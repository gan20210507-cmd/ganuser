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56" r:id="rId5"/>
    <p:sldId id="290" r:id="rId6"/>
    <p:sldId id="257" r:id="rId7"/>
    <p:sldId id="293" r:id="rId8"/>
    <p:sldId id="260" r:id="rId9"/>
    <p:sldId id="258" r:id="rId10"/>
    <p:sldId id="261" r:id="rId11"/>
    <p:sldId id="295" r:id="rId12"/>
    <p:sldId id="286" r:id="rId13"/>
    <p:sldId id="287" r:id="rId14"/>
    <p:sldId id="294" r:id="rId15"/>
    <p:sldId id="296" r:id="rId16"/>
    <p:sldId id="291" r:id="rId17"/>
    <p:sldId id="288"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5" autoAdjust="0"/>
    <p:restoredTop sz="94660"/>
  </p:normalViewPr>
  <p:slideViewPr>
    <p:cSldViewPr snapToGrid="0">
      <p:cViewPr varScale="1">
        <p:scale>
          <a:sx n="82" d="100"/>
          <a:sy n="82" d="100"/>
        </p:scale>
        <p:origin x="490" y="7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5/24/2025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5/24/2025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9.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normAutofit fontScale="77500" lnSpcReduction="20000"/>
          </a:bodyPr>
          <a:lstStyle/>
          <a:p>
            <a:r>
              <a:rPr lang="en-US" sz="8800" b="1" i="1" dirty="0">
                <a:latin typeface="Arial"/>
                <a:cs typeface="Arial"/>
              </a:rPr>
              <a:t>         </a:t>
            </a:r>
            <a:endParaRPr lang="en-US" dirty="0"/>
          </a:p>
        </p:txBody>
      </p:sp>
      <p:sp>
        <p:nvSpPr>
          <p:cNvPr id="4" name="TextBox 3">
            <a:extLst>
              <a:ext uri="{FF2B5EF4-FFF2-40B4-BE49-F238E27FC236}">
                <a16:creationId xmlns:a16="http://schemas.microsoft.com/office/drawing/2014/main" id="{9149503F-27AE-6B52-5392-B8CCF1A22FF6}"/>
              </a:ext>
            </a:extLst>
          </p:cNvPr>
          <p:cNvSpPr txBox="1"/>
          <p:nvPr/>
        </p:nvSpPr>
        <p:spPr>
          <a:xfrm>
            <a:off x="1553497" y="1489787"/>
            <a:ext cx="10746658" cy="630942"/>
          </a:xfrm>
          <a:prstGeom prst="rect">
            <a:avLst/>
          </a:prstGeom>
          <a:noFill/>
        </p:spPr>
        <p:txBody>
          <a:bodyPr wrap="square" rtlCol="0">
            <a:spAutoFit/>
          </a:bodyPr>
          <a:lstStyle/>
          <a:p>
            <a:r>
              <a:rPr lang="en-US" sz="3500" b="1" dirty="0">
                <a:solidFill>
                  <a:schemeClr val="accent2"/>
                </a:solidFill>
                <a:latin typeface="Amasis MT Pro" panose="02040504050005020304" pitchFamily="18" charset="0"/>
                <a:cs typeface="Aharoni" panose="02010803020104030203" pitchFamily="2" charset="-79"/>
              </a:rPr>
              <a:t>A Lightweight and Adaptive Logging Architecture</a:t>
            </a:r>
          </a:p>
        </p:txBody>
      </p:sp>
      <p:sp>
        <p:nvSpPr>
          <p:cNvPr id="5" name="TextBox 4">
            <a:extLst>
              <a:ext uri="{FF2B5EF4-FFF2-40B4-BE49-F238E27FC236}">
                <a16:creationId xmlns:a16="http://schemas.microsoft.com/office/drawing/2014/main" id="{C0FF0C2C-9452-AE28-457E-763D8C8B6677}"/>
              </a:ext>
            </a:extLst>
          </p:cNvPr>
          <p:cNvSpPr txBox="1"/>
          <p:nvPr/>
        </p:nvSpPr>
        <p:spPr>
          <a:xfrm>
            <a:off x="4776918" y="2413337"/>
            <a:ext cx="4049486" cy="1015663"/>
          </a:xfrm>
          <a:prstGeom prst="rect">
            <a:avLst/>
          </a:prstGeom>
          <a:noFill/>
        </p:spPr>
        <p:txBody>
          <a:bodyPr wrap="square" rtlCol="0">
            <a:spAutoFit/>
          </a:bodyPr>
          <a:lstStyle/>
          <a:p>
            <a:r>
              <a:rPr lang="en-US" sz="2000" dirty="0">
                <a:solidFill>
                  <a:schemeClr val="accent1">
                    <a:lumMod val="20000"/>
                    <a:lumOff val="80000"/>
                  </a:schemeClr>
                </a:solidFill>
                <a:latin typeface="Amasis MT Pro" panose="02040504050005020304" pitchFamily="18" charset="0"/>
              </a:rPr>
              <a:t>Diala Alazzeh 20210116</a:t>
            </a:r>
          </a:p>
          <a:p>
            <a:r>
              <a:rPr lang="en-US" sz="2000" dirty="0">
                <a:solidFill>
                  <a:schemeClr val="accent1">
                    <a:lumMod val="20000"/>
                    <a:lumOff val="80000"/>
                  </a:schemeClr>
                </a:solidFill>
                <a:latin typeface="Amasis MT Pro" panose="02040504050005020304" pitchFamily="18" charset="0"/>
              </a:rPr>
              <a:t>Jana Abdeen 20210507</a:t>
            </a:r>
          </a:p>
          <a:p>
            <a:r>
              <a:rPr lang="en-US" sz="2000" dirty="0">
                <a:solidFill>
                  <a:schemeClr val="accent1">
                    <a:lumMod val="20000"/>
                    <a:lumOff val="80000"/>
                  </a:schemeClr>
                </a:solidFill>
                <a:latin typeface="Amasis MT Pro" panose="02040504050005020304" pitchFamily="18" charset="0"/>
              </a:rPr>
              <a:t>Eyad </a:t>
            </a:r>
            <a:r>
              <a:rPr lang="en-US" sz="2000" dirty="0" err="1">
                <a:solidFill>
                  <a:schemeClr val="accent1">
                    <a:lumMod val="20000"/>
                    <a:lumOff val="80000"/>
                  </a:schemeClr>
                </a:solidFill>
                <a:latin typeface="Amasis MT Pro" panose="02040504050005020304" pitchFamily="18" charset="0"/>
              </a:rPr>
              <a:t>Alssouqi</a:t>
            </a:r>
            <a:r>
              <a:rPr lang="en-US" sz="2000" dirty="0">
                <a:solidFill>
                  <a:schemeClr val="accent1">
                    <a:lumMod val="20000"/>
                    <a:lumOff val="80000"/>
                  </a:schemeClr>
                </a:solidFill>
                <a:latin typeface="Amasis MT Pro" panose="02040504050005020304" pitchFamily="18" charset="0"/>
              </a:rPr>
              <a:t> 20200528</a:t>
            </a:r>
          </a:p>
        </p:txBody>
      </p:sp>
      <p:sp>
        <p:nvSpPr>
          <p:cNvPr id="6" name="TextBox 5">
            <a:extLst>
              <a:ext uri="{FF2B5EF4-FFF2-40B4-BE49-F238E27FC236}">
                <a16:creationId xmlns:a16="http://schemas.microsoft.com/office/drawing/2014/main" id="{25CF771A-3BEA-B55D-3A9A-EF576F818CC0}"/>
              </a:ext>
            </a:extLst>
          </p:cNvPr>
          <p:cNvSpPr txBox="1"/>
          <p:nvPr/>
        </p:nvSpPr>
        <p:spPr>
          <a:xfrm>
            <a:off x="3988385" y="3786616"/>
            <a:ext cx="6307494" cy="369332"/>
          </a:xfrm>
          <a:prstGeom prst="rect">
            <a:avLst/>
          </a:prstGeom>
          <a:noFill/>
        </p:spPr>
        <p:txBody>
          <a:bodyPr wrap="square" rtlCol="0">
            <a:spAutoFit/>
          </a:bodyPr>
          <a:lstStyle/>
          <a:p>
            <a:r>
              <a:rPr lang="en-US" dirty="0">
                <a:solidFill>
                  <a:schemeClr val="accent1">
                    <a:lumMod val="20000"/>
                    <a:lumOff val="80000"/>
                  </a:schemeClr>
                </a:solidFill>
                <a:latin typeface="Amasis MT Pro" panose="02040504050005020304" pitchFamily="18" charset="0"/>
              </a:rPr>
              <a:t>Supervised by: Prof Mohammad </a:t>
            </a:r>
            <a:r>
              <a:rPr lang="en-US" dirty="0" err="1">
                <a:solidFill>
                  <a:schemeClr val="accent1">
                    <a:lumMod val="20000"/>
                    <a:lumOff val="80000"/>
                  </a:schemeClr>
                </a:solidFill>
                <a:latin typeface="Amasis MT Pro" panose="02040504050005020304" pitchFamily="18" charset="0"/>
              </a:rPr>
              <a:t>AlNabhan</a:t>
            </a:r>
            <a:endParaRPr lang="en-US" dirty="0">
              <a:solidFill>
                <a:schemeClr val="accent1">
                  <a:lumMod val="20000"/>
                  <a:lumOff val="80000"/>
                </a:schemeClr>
              </a:solidFill>
              <a:latin typeface="Amasis MT Pro" panose="02040504050005020304" pitchFamily="18" charset="0"/>
            </a:endParaRPr>
          </a:p>
        </p:txBody>
      </p:sp>
    </p:spTree>
    <p:extLst>
      <p:ext uri="{BB962C8B-B14F-4D97-AF65-F5344CB8AC3E}">
        <p14:creationId xmlns:p14="http://schemas.microsoft.com/office/powerpoint/2010/main" val="39469345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7AD40F-AD34-5585-9A94-0A0CE221747A}"/>
              </a:ext>
            </a:extLst>
          </p:cNvPr>
          <p:cNvSpPr>
            <a:spLocks noGrp="1"/>
          </p:cNvSpPr>
          <p:nvPr>
            <p:ph type="body" idx="1"/>
          </p:nvPr>
        </p:nvSpPr>
        <p:spPr>
          <a:xfrm>
            <a:off x="673230" y="2198292"/>
            <a:ext cx="6803136" cy="365760"/>
          </a:xfrm>
        </p:spPr>
        <p:txBody>
          <a:bodyPr>
            <a:normAutofit fontScale="25000" lnSpcReduction="20000"/>
          </a:bodyPr>
          <a:lstStyle/>
          <a:p>
            <a:r>
              <a:rPr lang="en-US" sz="7200" dirty="0">
                <a:latin typeface="Amasis MT Pro" panose="02040504050005020304" pitchFamily="18" charset="0"/>
              </a:rPr>
              <a:t>Introduction</a:t>
            </a:r>
          </a:p>
          <a:p>
            <a:r>
              <a:rPr lang="en-US" sz="7200" dirty="0">
                <a:latin typeface="Amasis MT Pro" panose="02040504050005020304" pitchFamily="18" charset="0"/>
              </a:rPr>
              <a:t>Problem Statement</a:t>
            </a:r>
          </a:p>
          <a:p>
            <a:r>
              <a:rPr lang="en-US" sz="7200" dirty="0">
                <a:latin typeface="Amasis MT Pro" panose="02040504050005020304" pitchFamily="18" charset="0"/>
              </a:rPr>
              <a:t>Comparison</a:t>
            </a:r>
          </a:p>
          <a:p>
            <a:r>
              <a:rPr lang="en-US" sz="7200" dirty="0">
                <a:latin typeface="Amasis MT Pro" panose="02040504050005020304" pitchFamily="18" charset="0"/>
              </a:rPr>
              <a:t>Sequence Diagram</a:t>
            </a:r>
          </a:p>
          <a:p>
            <a:r>
              <a:rPr lang="en-US" sz="7200" dirty="0">
                <a:latin typeface="Amasis MT Pro" panose="02040504050005020304" pitchFamily="18" charset="0"/>
              </a:rPr>
              <a:t>Architectural Design</a:t>
            </a:r>
          </a:p>
          <a:p>
            <a:r>
              <a:rPr lang="en-US" sz="7200" dirty="0">
                <a:latin typeface="Amasis MT Pro" panose="02040504050005020304" pitchFamily="18" charset="0"/>
              </a:rPr>
              <a:t>Dashboard</a:t>
            </a:r>
          </a:p>
          <a:p>
            <a:r>
              <a:rPr lang="en-US" sz="7200" dirty="0">
                <a:latin typeface="Amasis MT Pro" panose="02040504050005020304" pitchFamily="18" charset="0"/>
              </a:rPr>
              <a:t>Technology Stack</a:t>
            </a:r>
          </a:p>
          <a:p>
            <a:r>
              <a:rPr lang="en-US" sz="7200" dirty="0">
                <a:latin typeface="Amasis MT Pro" panose="02040504050005020304" pitchFamily="18" charset="0"/>
              </a:rPr>
              <a:t>Scenario of Demonstration</a:t>
            </a:r>
          </a:p>
          <a:p>
            <a:r>
              <a:rPr lang="en-US" sz="7200" dirty="0">
                <a:latin typeface="Amasis MT Pro" panose="02040504050005020304" pitchFamily="18" charset="0"/>
              </a:rPr>
              <a:t>Conclusion</a:t>
            </a:r>
          </a:p>
          <a:p>
            <a:endParaRPr lang="en-US" sz="7200" dirty="0"/>
          </a:p>
          <a:p>
            <a:endParaRPr lang="en-US" sz="7200" dirty="0"/>
          </a:p>
          <a:p>
            <a:endParaRPr lang="en-US" sz="7200" dirty="0"/>
          </a:p>
          <a:p>
            <a:endParaRPr lang="en-US" sz="7200" dirty="0"/>
          </a:p>
          <a:p>
            <a:endParaRPr lang="en-US" dirty="0"/>
          </a:p>
        </p:txBody>
      </p:sp>
      <p:sp>
        <p:nvSpPr>
          <p:cNvPr id="3" name="Slide Number Placeholder 2">
            <a:extLst>
              <a:ext uri="{FF2B5EF4-FFF2-40B4-BE49-F238E27FC236}">
                <a16:creationId xmlns:a16="http://schemas.microsoft.com/office/drawing/2014/main" id="{0577E4D3-F4ED-4910-429E-8FC70D8A3AFD}"/>
              </a:ext>
            </a:extLst>
          </p:cNvPr>
          <p:cNvSpPr>
            <a:spLocks noGrp="1"/>
          </p:cNvSpPr>
          <p:nvPr>
            <p:ph type="sldNum" sz="quarter" idx="12"/>
          </p:nvPr>
        </p:nvSpPr>
        <p:spPr/>
        <p:txBody>
          <a:bodyPr/>
          <a:lstStyle/>
          <a:p>
            <a:fld id="{C263D6C4-4840-40CC-AC84-17E24B3B7BDE}" type="slidenum">
              <a:rPr lang="en-US" noProof="0" smtClean="0"/>
              <a:pPr/>
              <a:t>2</a:t>
            </a:fld>
            <a:endParaRPr lang="en-US" noProof="0" dirty="0"/>
          </a:p>
        </p:txBody>
      </p:sp>
      <p:sp>
        <p:nvSpPr>
          <p:cNvPr id="4" name="Title 3">
            <a:extLst>
              <a:ext uri="{FF2B5EF4-FFF2-40B4-BE49-F238E27FC236}">
                <a16:creationId xmlns:a16="http://schemas.microsoft.com/office/drawing/2014/main" id="{E058A0D8-2DD8-DE8A-878E-55D0D6EDA569}"/>
              </a:ext>
            </a:extLst>
          </p:cNvPr>
          <p:cNvSpPr>
            <a:spLocks noGrp="1"/>
          </p:cNvSpPr>
          <p:nvPr>
            <p:ph type="title"/>
          </p:nvPr>
        </p:nvSpPr>
        <p:spPr>
          <a:xfrm>
            <a:off x="342646" y="993711"/>
            <a:ext cx="7781544" cy="859055"/>
          </a:xfrm>
        </p:spPr>
        <p:txBody>
          <a:bodyPr>
            <a:normAutofit/>
          </a:bodyPr>
          <a:lstStyle/>
          <a:p>
            <a:r>
              <a:rPr lang="en-US" sz="3500" dirty="0">
                <a:solidFill>
                  <a:schemeClr val="accent2">
                    <a:lumMod val="60000"/>
                    <a:lumOff val="40000"/>
                  </a:schemeClr>
                </a:solidFill>
                <a:latin typeface="Amasis MT Pro" panose="02040504050005020304" pitchFamily="18" charset="0"/>
              </a:rPr>
              <a:t>Agenda</a:t>
            </a:r>
          </a:p>
        </p:txBody>
      </p:sp>
    </p:spTree>
    <p:extLst>
      <p:ext uri="{BB962C8B-B14F-4D97-AF65-F5344CB8AC3E}">
        <p14:creationId xmlns:p14="http://schemas.microsoft.com/office/powerpoint/2010/main" val="3955810322"/>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1375556" y="530289"/>
            <a:ext cx="5400744" cy="859055"/>
          </a:xfrm>
        </p:spPr>
        <p:txBody>
          <a:bodyPr>
            <a:normAutofit/>
          </a:bodyPr>
          <a:lstStyle/>
          <a:p>
            <a:r>
              <a:rPr lang="en-US" sz="3500" dirty="0">
                <a:solidFill>
                  <a:schemeClr val="accent2">
                    <a:lumMod val="60000"/>
                    <a:lumOff val="40000"/>
                  </a:schemeClr>
                </a:solidFill>
                <a:latin typeface="Amasis MT Pro" panose="02040504050005020304" pitchFamily="18" charset="0"/>
              </a:rPr>
              <a:t>Introduction</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6" name="Text Placeholder 5">
            <a:extLst>
              <a:ext uri="{FF2B5EF4-FFF2-40B4-BE49-F238E27FC236}">
                <a16:creationId xmlns:a16="http://schemas.microsoft.com/office/drawing/2014/main" id="{B12F323E-EECD-CCDD-50AF-E813E34331DE}"/>
              </a:ext>
            </a:extLst>
          </p:cNvPr>
          <p:cNvSpPr>
            <a:spLocks noGrp="1"/>
          </p:cNvSpPr>
          <p:nvPr>
            <p:ph type="body" idx="1"/>
          </p:nvPr>
        </p:nvSpPr>
        <p:spPr>
          <a:xfrm>
            <a:off x="477541" y="1553497"/>
            <a:ext cx="7196774" cy="764949"/>
          </a:xfrm>
        </p:spPr>
        <p:txBody>
          <a:bodyPr>
            <a:normAutofit fontScale="25000" lnSpcReduction="20000"/>
          </a:bodyPr>
          <a:lstStyle/>
          <a:p>
            <a:r>
              <a:rPr lang="en-US" sz="7200" dirty="0">
                <a:latin typeface="Amasis MT Pro" panose="02040504050005020304" pitchFamily="18" charset="0"/>
                <a:cs typeface="Arial"/>
              </a:rPr>
              <a:t>Log management and performance monitoring are essential components of modern IT systems, ensuring that organizations can maintain reliability, security, and operational efficiency. Logs act as a valuable source of information for diagnosing issues, monitoring performance, and identifying potential security threats. However, as systems grow in complexity, the challenges associated with log management and monitoring have increased.</a:t>
            </a:r>
          </a:p>
          <a:p>
            <a:r>
              <a:rPr lang="en-US" sz="7200" dirty="0">
                <a:latin typeface="Amasis MT Pro" panose="02040504050005020304" pitchFamily="18" charset="0"/>
                <a:cs typeface="Arial"/>
              </a:rPr>
              <a:t>Traditional logging systems often struggle with the massive volume of unstructured data generated by modern infrastructures. This creates issues in analysis, and timely delivery of log data. Additionally, monitoring systems face problems such as alert fatigue, where excessive false alarms can overwhelm teams, and real-time detection delays, which can result to inefficiencies.</a:t>
            </a:r>
          </a:p>
          <a:p>
            <a:endParaRPr lang="en-US" sz="8000"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D61C02-F615-8F74-38E6-623E92F981BA}"/>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sp>
        <p:nvSpPr>
          <p:cNvPr id="7" name="Title 3">
            <a:extLst>
              <a:ext uri="{FF2B5EF4-FFF2-40B4-BE49-F238E27FC236}">
                <a16:creationId xmlns:a16="http://schemas.microsoft.com/office/drawing/2014/main" id="{5F54A0E6-147A-5498-0554-4B0ED990B1B1}"/>
              </a:ext>
            </a:extLst>
          </p:cNvPr>
          <p:cNvSpPr>
            <a:spLocks noGrp="1"/>
          </p:cNvSpPr>
          <p:nvPr>
            <p:ph type="body" idx="1"/>
          </p:nvPr>
        </p:nvSpPr>
        <p:spPr>
          <a:xfrm>
            <a:off x="831850" y="1524000"/>
            <a:ext cx="7791040" cy="3962400"/>
          </a:xfrm>
        </p:spPr>
        <p:txBody>
          <a:bodyPr>
            <a:normAutofit/>
          </a:bodyPr>
          <a:lstStyle/>
          <a:p>
            <a:r>
              <a:rPr lang="en-US" sz="1800" dirty="0">
                <a:latin typeface="Amasis MT Pro" panose="02040504050005020304" pitchFamily="18" charset="0"/>
                <a:cs typeface="Arial"/>
              </a:rPr>
              <a:t>Existing solutions like the ELK Stack (Elasticsearch, Logstash, and Kibana) have attempted to address these challenges. Logstash, for instance, is widely used for collecting, processing, and delivering logs. However, these systems are resource-intensive and require significant customization to handle complex, large-scale environments effectively. They often fail to provide cost-effective, scalable solutions for smaller organizations</a:t>
            </a:r>
            <a:r>
              <a:rPr lang="en-US" sz="1800" b="1" i="1" dirty="0">
                <a:latin typeface="Amasis MT Pro" panose="02040504050005020304" pitchFamily="18" charset="0"/>
                <a:cs typeface="Arial"/>
              </a:rPr>
              <a:t>.</a:t>
            </a:r>
          </a:p>
          <a:p>
            <a:endParaRPr lang="en-US" dirty="0">
              <a:latin typeface="Amasis MT Pro" panose="020F0502020204030204" pitchFamily="18" charset="0"/>
            </a:endParaRPr>
          </a:p>
        </p:txBody>
      </p:sp>
    </p:spTree>
    <p:extLst>
      <p:ext uri="{BB962C8B-B14F-4D97-AF65-F5344CB8AC3E}">
        <p14:creationId xmlns:p14="http://schemas.microsoft.com/office/powerpoint/2010/main" val="3865124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104316" y="583164"/>
            <a:ext cx="7781544" cy="859055"/>
          </a:xfrm>
        </p:spPr>
        <p:txBody>
          <a:bodyPr>
            <a:normAutofit/>
          </a:bodyPr>
          <a:lstStyle/>
          <a:p>
            <a:r>
              <a:rPr lang="en-US" sz="3500" dirty="0">
                <a:solidFill>
                  <a:schemeClr val="accent2">
                    <a:lumMod val="60000"/>
                    <a:lumOff val="40000"/>
                  </a:schemeClr>
                </a:solidFill>
                <a:latin typeface="Amasis MT Pro" panose="02040504050005020304" pitchFamily="18" charset="0"/>
              </a:rPr>
              <a:t>Problem Statement</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3" name="TextBox 2">
            <a:extLst>
              <a:ext uri="{FF2B5EF4-FFF2-40B4-BE49-F238E27FC236}">
                <a16:creationId xmlns:a16="http://schemas.microsoft.com/office/drawing/2014/main" id="{728914A2-5478-94D6-A828-4EA2544B35FF}"/>
              </a:ext>
            </a:extLst>
          </p:cNvPr>
          <p:cNvSpPr txBox="1"/>
          <p:nvPr/>
        </p:nvSpPr>
        <p:spPr>
          <a:xfrm>
            <a:off x="391885" y="2207374"/>
            <a:ext cx="7921689" cy="1754326"/>
          </a:xfrm>
          <a:prstGeom prst="rect">
            <a:avLst/>
          </a:prstGeom>
          <a:noFill/>
        </p:spPr>
        <p:txBody>
          <a:bodyPr wrap="square" rtlCol="0">
            <a:spAutoFit/>
          </a:bodyPr>
          <a:lstStyle/>
          <a:p>
            <a:r>
              <a:rPr lang="en-US" dirty="0">
                <a:solidFill>
                  <a:schemeClr val="accent1">
                    <a:lumMod val="20000"/>
                    <a:lumOff val="80000"/>
                  </a:schemeClr>
                </a:solidFill>
                <a:latin typeface="Amasis MT Pro" panose="02040504050005020304" pitchFamily="18" charset="0"/>
              </a:rPr>
              <a:t>1-Data Overload and Unstructured Logs</a:t>
            </a:r>
          </a:p>
          <a:p>
            <a:r>
              <a:rPr lang="en-US" dirty="0">
                <a:solidFill>
                  <a:schemeClr val="accent1">
                    <a:lumMod val="20000"/>
                    <a:lumOff val="80000"/>
                  </a:schemeClr>
                </a:solidFill>
                <a:latin typeface="Amasis MT Pro" panose="02040504050005020304" pitchFamily="18" charset="0"/>
              </a:rPr>
              <a:t>2-System Complexity</a:t>
            </a:r>
          </a:p>
          <a:p>
            <a:r>
              <a:rPr lang="en-US" dirty="0">
                <a:solidFill>
                  <a:schemeClr val="accent1">
                    <a:lumMod val="20000"/>
                    <a:lumOff val="80000"/>
                  </a:schemeClr>
                </a:solidFill>
                <a:latin typeface="Amasis MT Pro" panose="02040504050005020304" pitchFamily="18" charset="0"/>
              </a:rPr>
              <a:t>3-Lack of Centralized Logging and Delivery Issues</a:t>
            </a:r>
          </a:p>
          <a:p>
            <a:r>
              <a:rPr lang="en-US" dirty="0">
                <a:solidFill>
                  <a:schemeClr val="accent1">
                    <a:lumMod val="20000"/>
                    <a:lumOff val="80000"/>
                  </a:schemeClr>
                </a:solidFill>
                <a:latin typeface="Amasis MT Pro" panose="02040504050005020304" pitchFamily="18" charset="0"/>
              </a:rPr>
              <a:t>4-High cost of tools</a:t>
            </a:r>
          </a:p>
          <a:p>
            <a:r>
              <a:rPr lang="en-US" dirty="0">
                <a:solidFill>
                  <a:schemeClr val="accent1">
                    <a:lumMod val="20000"/>
                    <a:lumOff val="80000"/>
                  </a:schemeClr>
                </a:solidFill>
                <a:latin typeface="Amasis MT Pro" panose="02040504050005020304" pitchFamily="18" charset="0"/>
              </a:rPr>
              <a:t>5-Insufficient or Missing Log Information</a:t>
            </a:r>
          </a:p>
          <a:p>
            <a:r>
              <a:rPr lang="en-US" dirty="0">
                <a:solidFill>
                  <a:schemeClr val="accent1">
                    <a:lumMod val="20000"/>
                    <a:lumOff val="80000"/>
                  </a:schemeClr>
                </a:solidFill>
                <a:latin typeface="Amasis MT Pro" panose="02040504050005020304" pitchFamily="18" charset="0"/>
              </a:rPr>
              <a:t>6-Real-time Monitoring Challenges and False Alerts</a:t>
            </a:r>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577081"/>
          </a:xfrm>
        </p:spPr>
        <p:txBody>
          <a:bodyPr/>
          <a:lstStyle/>
          <a:p>
            <a:r>
              <a:rPr lang="en-US" sz="3500" dirty="0">
                <a:solidFill>
                  <a:schemeClr val="accent2">
                    <a:lumMod val="60000"/>
                    <a:lumOff val="40000"/>
                  </a:schemeClr>
                </a:solidFill>
                <a:latin typeface="Amasis MT Pro" panose="02040504050005020304" pitchFamily="18" charset="0"/>
              </a:rPr>
              <a:t>Comparison</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6</a:t>
            </a:fld>
            <a:endParaRPr lang="en-US" dirty="0"/>
          </a:p>
        </p:txBody>
      </p:sp>
      <p:graphicFrame>
        <p:nvGraphicFramePr>
          <p:cNvPr id="3" name="Table 2">
            <a:extLst>
              <a:ext uri="{FF2B5EF4-FFF2-40B4-BE49-F238E27FC236}">
                <a16:creationId xmlns:a16="http://schemas.microsoft.com/office/drawing/2014/main" id="{2E1C2646-872F-3E00-937F-A970850B0FF3}"/>
              </a:ext>
            </a:extLst>
          </p:cNvPr>
          <p:cNvGraphicFramePr>
            <a:graphicFrameLocks noGrp="1"/>
          </p:cNvGraphicFramePr>
          <p:nvPr>
            <p:extLst>
              <p:ext uri="{D42A27DB-BD31-4B8C-83A1-F6EECF244321}">
                <p14:modId xmlns:p14="http://schemas.microsoft.com/office/powerpoint/2010/main" val="1888495219"/>
              </p:ext>
            </p:extLst>
          </p:nvPr>
        </p:nvGraphicFramePr>
        <p:xfrm>
          <a:off x="444500" y="1729176"/>
          <a:ext cx="6978855" cy="3760755"/>
        </p:xfrm>
        <a:graphic>
          <a:graphicData uri="http://schemas.openxmlformats.org/drawingml/2006/table">
            <a:tbl>
              <a:tblPr firstRow="1" bandRow="1">
                <a:tableStyleId>{5C22544A-7EE6-4342-B048-85BDC9FD1C3A}</a:tableStyleId>
              </a:tblPr>
              <a:tblGrid>
                <a:gridCol w="1884335">
                  <a:extLst>
                    <a:ext uri="{9D8B030D-6E8A-4147-A177-3AD203B41FA5}">
                      <a16:colId xmlns:a16="http://schemas.microsoft.com/office/drawing/2014/main" val="3085283025"/>
                    </a:ext>
                  </a:extLst>
                </a:gridCol>
                <a:gridCol w="2345043">
                  <a:extLst>
                    <a:ext uri="{9D8B030D-6E8A-4147-A177-3AD203B41FA5}">
                      <a16:colId xmlns:a16="http://schemas.microsoft.com/office/drawing/2014/main" val="2763112212"/>
                    </a:ext>
                  </a:extLst>
                </a:gridCol>
                <a:gridCol w="2749477">
                  <a:extLst>
                    <a:ext uri="{9D8B030D-6E8A-4147-A177-3AD203B41FA5}">
                      <a16:colId xmlns:a16="http://schemas.microsoft.com/office/drawing/2014/main" val="2578916840"/>
                    </a:ext>
                  </a:extLst>
                </a:gridCol>
              </a:tblGrid>
              <a:tr h="0">
                <a:tc>
                  <a:txBody>
                    <a:bodyPr/>
                    <a:lstStyle/>
                    <a:p>
                      <a:r>
                        <a:rPr lang="en-US" sz="1800" b="1" kern="1200" dirty="0">
                          <a:solidFill>
                            <a:schemeClr val="lt1"/>
                          </a:solidFill>
                          <a:effectLst/>
                          <a:latin typeface="+mn-lt"/>
                          <a:ea typeface="+mn-ea"/>
                          <a:cs typeface="+mn-cs"/>
                        </a:rPr>
                        <a:t>Feature</a:t>
                      </a:r>
                      <a:endParaRPr lang="en-US" dirty="0"/>
                    </a:p>
                  </a:txBody>
                  <a:tcPr>
                    <a:solidFill>
                      <a:schemeClr val="accent2">
                        <a:lumMod val="75000"/>
                      </a:schemeClr>
                    </a:solidFill>
                  </a:tcPr>
                </a:tc>
                <a:tc>
                  <a:txBody>
                    <a:bodyPr/>
                    <a:lstStyle/>
                    <a:p>
                      <a:r>
                        <a:rPr lang="en-US" sz="1800" b="1" kern="1200" dirty="0">
                          <a:solidFill>
                            <a:schemeClr val="lt1"/>
                          </a:solidFill>
                          <a:effectLst/>
                          <a:latin typeface="+mn-lt"/>
                          <a:ea typeface="+mn-ea"/>
                          <a:cs typeface="+mn-cs"/>
                        </a:rPr>
                        <a:t>Traditional Logging Systems</a:t>
                      </a:r>
                      <a:endParaRPr lang="en-US" dirty="0"/>
                    </a:p>
                  </a:txBody>
                  <a:tcPr>
                    <a:solidFill>
                      <a:schemeClr val="accent2">
                        <a:lumMod val="75000"/>
                      </a:schemeClr>
                    </a:solidFill>
                  </a:tcPr>
                </a:tc>
                <a:tc>
                  <a:txBody>
                    <a:bodyPr/>
                    <a:lstStyle/>
                    <a:p>
                      <a:r>
                        <a:rPr lang="en-US" sz="1800" b="1" kern="1200" dirty="0">
                          <a:solidFill>
                            <a:schemeClr val="lt1"/>
                          </a:solidFill>
                          <a:effectLst/>
                          <a:latin typeface="+mn-lt"/>
                          <a:ea typeface="+mn-ea"/>
                          <a:cs typeface="+mn-cs"/>
                        </a:rPr>
                        <a:t>Our Lightweight Logging Architecture</a:t>
                      </a:r>
                      <a:endParaRPr lang="en-US" dirty="0"/>
                    </a:p>
                  </a:txBody>
                  <a:tcPr>
                    <a:solidFill>
                      <a:schemeClr val="accent2">
                        <a:lumMod val="75000"/>
                      </a:schemeClr>
                    </a:solidFill>
                  </a:tcPr>
                </a:tc>
                <a:extLst>
                  <a:ext uri="{0D108BD9-81ED-4DB2-BD59-A6C34878D82A}">
                    <a16:rowId xmlns:a16="http://schemas.microsoft.com/office/drawing/2014/main" val="1884023455"/>
                  </a:ext>
                </a:extLst>
              </a:tr>
              <a:tr h="624135">
                <a:tc>
                  <a:txBody>
                    <a:bodyPr/>
                    <a:lstStyle/>
                    <a:p>
                      <a:r>
                        <a:rPr lang="en-US" sz="1600" b="0" kern="1200" dirty="0">
                          <a:solidFill>
                            <a:schemeClr val="accent2">
                              <a:lumMod val="75000"/>
                            </a:schemeClr>
                          </a:solidFill>
                          <a:effectLst/>
                          <a:latin typeface="Amasis MT Pro" panose="02040504050005020304" pitchFamily="18" charset="0"/>
                          <a:ea typeface="+mn-ea"/>
                          <a:cs typeface="+mn-cs"/>
                        </a:rPr>
                        <a:t>Log Format</a:t>
                      </a:r>
                      <a:endParaRPr lang="en-US" sz="1600" b="0" dirty="0">
                        <a:solidFill>
                          <a:schemeClr val="accent2">
                            <a:lumMod val="75000"/>
                          </a:schemeClr>
                        </a:solidFill>
                        <a:latin typeface="Amasis MT Pro" panose="02040504050005020304" pitchFamily="18" charset="0"/>
                      </a:endParaRPr>
                    </a:p>
                  </a:txBody>
                  <a:tcPr/>
                </a:tc>
                <a:tc>
                  <a:txBody>
                    <a:bodyPr/>
                    <a:lstStyle/>
                    <a:p>
                      <a:pPr marL="0" marR="0">
                        <a:lnSpc>
                          <a:spcPct val="115000"/>
                        </a:lnSpc>
                        <a:spcAft>
                          <a:spcPts val="800"/>
                        </a:spcAft>
                        <a:buNone/>
                      </a:pPr>
                      <a:r>
                        <a:rPr lang="en-US" sz="1600" kern="100" dirty="0">
                          <a:solidFill>
                            <a:schemeClr val="accent2">
                              <a:lumMod val="75000"/>
                            </a:schemeClr>
                          </a:solidFill>
                          <a:effectLst/>
                          <a:latin typeface="Amasis MT Pro" panose="02040504050005020304" pitchFamily="18" charset="0"/>
                          <a:ea typeface="Aptos" panose="020B0004020202020204" pitchFamily="34" charset="0"/>
                          <a:cs typeface="Arial" panose="020B0604020202020204" pitchFamily="34" charset="0"/>
                        </a:rPr>
                        <a:t>Unstructured, heavy raw logs</a:t>
                      </a:r>
                    </a:p>
                  </a:txBody>
                  <a:tcPr marL="68580" marR="68580" marT="0" marB="0"/>
                </a:tc>
                <a:tc>
                  <a:txBody>
                    <a:bodyPr/>
                    <a:lstStyle/>
                    <a:p>
                      <a:r>
                        <a:rPr lang="en-US" sz="1600" kern="1200" dirty="0">
                          <a:solidFill>
                            <a:schemeClr val="accent2">
                              <a:lumMod val="75000"/>
                            </a:schemeClr>
                          </a:solidFill>
                          <a:effectLst/>
                          <a:latin typeface="Amasis MT Pro" panose="02040504050005020304" pitchFamily="18" charset="0"/>
                          <a:ea typeface="+mn-ea"/>
                          <a:cs typeface="+mn-cs"/>
                        </a:rPr>
                        <a:t>Structured JSON format with relevant metadata</a:t>
                      </a:r>
                      <a:endParaRPr lang="en-US" sz="1600" dirty="0">
                        <a:solidFill>
                          <a:schemeClr val="accent2">
                            <a:lumMod val="75000"/>
                          </a:schemeClr>
                        </a:solidFill>
                        <a:latin typeface="Amasis MT Pro" panose="02040504050005020304" pitchFamily="18" charset="0"/>
                      </a:endParaRPr>
                    </a:p>
                  </a:txBody>
                  <a:tcPr/>
                </a:tc>
                <a:extLst>
                  <a:ext uri="{0D108BD9-81ED-4DB2-BD59-A6C34878D82A}">
                    <a16:rowId xmlns:a16="http://schemas.microsoft.com/office/drawing/2014/main" val="2141180137"/>
                  </a:ext>
                </a:extLst>
              </a:tr>
              <a:tr h="624135">
                <a:tc>
                  <a:txBody>
                    <a:bodyPr/>
                    <a:lstStyle/>
                    <a:p>
                      <a:r>
                        <a:rPr lang="en-US" sz="1600" b="0" kern="1200" dirty="0">
                          <a:solidFill>
                            <a:schemeClr val="accent2">
                              <a:lumMod val="75000"/>
                            </a:schemeClr>
                          </a:solidFill>
                          <a:effectLst/>
                          <a:latin typeface="Amasis MT Pro" panose="02040504050005020304" pitchFamily="18" charset="0"/>
                          <a:ea typeface="+mn-ea"/>
                          <a:cs typeface="+mn-cs"/>
                        </a:rPr>
                        <a:t>Storage Efficiency</a:t>
                      </a:r>
                      <a:endParaRPr lang="en-US" sz="1600" b="0" dirty="0">
                        <a:solidFill>
                          <a:schemeClr val="accent2">
                            <a:lumMod val="75000"/>
                          </a:schemeClr>
                        </a:solidFill>
                        <a:latin typeface="Amasis MT Pro" panose="02040504050005020304" pitchFamily="18" charset="0"/>
                      </a:endParaRPr>
                    </a:p>
                  </a:txBody>
                  <a:tcPr/>
                </a:tc>
                <a:tc>
                  <a:txBody>
                    <a:bodyPr/>
                    <a:lstStyle/>
                    <a:p>
                      <a:r>
                        <a:rPr lang="en-US" sz="1600" kern="1200" dirty="0">
                          <a:solidFill>
                            <a:schemeClr val="accent2">
                              <a:lumMod val="75000"/>
                            </a:schemeClr>
                          </a:solidFill>
                          <a:effectLst/>
                          <a:latin typeface="Amasis MT Pro" panose="02040504050005020304" pitchFamily="18" charset="0"/>
                          <a:ea typeface="+mn-ea"/>
                          <a:cs typeface="+mn-cs"/>
                        </a:rPr>
                        <a:t>High volume, redundant entries</a:t>
                      </a:r>
                      <a:endParaRPr lang="en-US" sz="1600" dirty="0">
                        <a:solidFill>
                          <a:schemeClr val="accent2">
                            <a:lumMod val="75000"/>
                          </a:schemeClr>
                        </a:solidFill>
                        <a:latin typeface="Amasis MT Pro" panose="02040504050005020304" pitchFamily="18" charset="0"/>
                      </a:endParaRPr>
                    </a:p>
                  </a:txBody>
                  <a:tcPr/>
                </a:tc>
                <a:tc>
                  <a:txBody>
                    <a:bodyPr/>
                    <a:lstStyle/>
                    <a:p>
                      <a:r>
                        <a:rPr lang="en-US" sz="1600" kern="1200" dirty="0">
                          <a:solidFill>
                            <a:schemeClr val="accent2">
                              <a:lumMod val="75000"/>
                            </a:schemeClr>
                          </a:solidFill>
                          <a:effectLst/>
                          <a:latin typeface="Amasis MT Pro" panose="02040504050005020304" pitchFamily="18" charset="0"/>
                          <a:ea typeface="+mn-ea"/>
                          <a:cs typeface="+mn-cs"/>
                        </a:rPr>
                        <a:t>Filtered and sampled before storage</a:t>
                      </a:r>
                      <a:endParaRPr lang="en-US" sz="1600" dirty="0">
                        <a:solidFill>
                          <a:schemeClr val="accent2">
                            <a:lumMod val="75000"/>
                          </a:schemeClr>
                        </a:solidFill>
                        <a:latin typeface="Amasis MT Pro" panose="02040504050005020304" pitchFamily="18" charset="0"/>
                      </a:endParaRPr>
                    </a:p>
                  </a:txBody>
                  <a:tcPr/>
                </a:tc>
                <a:extLst>
                  <a:ext uri="{0D108BD9-81ED-4DB2-BD59-A6C34878D82A}">
                    <a16:rowId xmlns:a16="http://schemas.microsoft.com/office/drawing/2014/main" val="1135161474"/>
                  </a:ext>
                </a:extLst>
              </a:tr>
              <a:tr h="624135">
                <a:tc>
                  <a:txBody>
                    <a:bodyPr/>
                    <a:lstStyle/>
                    <a:p>
                      <a:r>
                        <a:rPr lang="en-US" sz="1600" b="0" kern="1200" dirty="0">
                          <a:solidFill>
                            <a:schemeClr val="accent2">
                              <a:lumMod val="75000"/>
                            </a:schemeClr>
                          </a:solidFill>
                          <a:effectLst/>
                          <a:latin typeface="Amasis MT Pro" panose="02040504050005020304" pitchFamily="18" charset="0"/>
                          <a:ea typeface="+mn-ea"/>
                          <a:cs typeface="+mn-cs"/>
                        </a:rPr>
                        <a:t>Threat Detection</a:t>
                      </a:r>
                      <a:endParaRPr lang="en-US" sz="1600" b="0" dirty="0">
                        <a:solidFill>
                          <a:schemeClr val="accent2">
                            <a:lumMod val="75000"/>
                          </a:schemeClr>
                        </a:solidFill>
                        <a:latin typeface="Amasis MT Pro" panose="02040504050005020304" pitchFamily="18" charset="0"/>
                      </a:endParaRPr>
                    </a:p>
                  </a:txBody>
                  <a:tcPr/>
                </a:tc>
                <a:tc>
                  <a:txBody>
                    <a:bodyPr/>
                    <a:lstStyle/>
                    <a:p>
                      <a:r>
                        <a:rPr lang="en-US" sz="1600" kern="1200" dirty="0">
                          <a:solidFill>
                            <a:schemeClr val="accent2">
                              <a:lumMod val="75000"/>
                            </a:schemeClr>
                          </a:solidFill>
                          <a:effectLst/>
                          <a:latin typeface="Amasis MT Pro" panose="02040504050005020304" pitchFamily="18" charset="0"/>
                          <a:ea typeface="+mn-ea"/>
                          <a:cs typeface="+mn-cs"/>
                        </a:rPr>
                        <a:t>Different from logging pipeline</a:t>
                      </a:r>
                      <a:endParaRPr lang="en-US" sz="1600" dirty="0">
                        <a:solidFill>
                          <a:schemeClr val="accent2">
                            <a:lumMod val="75000"/>
                          </a:schemeClr>
                        </a:solidFill>
                        <a:latin typeface="Amasis MT Pro" panose="02040504050005020304" pitchFamily="18" charset="0"/>
                      </a:endParaRPr>
                    </a:p>
                  </a:txBody>
                  <a:tcPr/>
                </a:tc>
                <a:tc>
                  <a:txBody>
                    <a:bodyPr/>
                    <a:lstStyle/>
                    <a:p>
                      <a:pPr marL="0" marR="0">
                        <a:lnSpc>
                          <a:spcPct val="115000"/>
                        </a:lnSpc>
                        <a:spcAft>
                          <a:spcPts val="800"/>
                        </a:spcAft>
                        <a:buNone/>
                      </a:pPr>
                      <a:r>
                        <a:rPr lang="en-US" sz="1600" kern="100" dirty="0">
                          <a:solidFill>
                            <a:schemeClr val="accent2">
                              <a:lumMod val="75000"/>
                            </a:schemeClr>
                          </a:solidFill>
                          <a:effectLst/>
                          <a:latin typeface="Amasis MT Pro" panose="02040504050005020304" pitchFamily="18" charset="0"/>
                          <a:ea typeface="Aptos" panose="020B0004020202020204" pitchFamily="34" charset="0"/>
                          <a:cs typeface="Arial" panose="020B0604020202020204" pitchFamily="34" charset="0"/>
                        </a:rPr>
                        <a:t>Integrated with Suricata IDS alerts</a:t>
                      </a:r>
                    </a:p>
                  </a:txBody>
                  <a:tcPr marL="68580" marR="68580" marT="0" marB="0"/>
                </a:tc>
                <a:extLst>
                  <a:ext uri="{0D108BD9-81ED-4DB2-BD59-A6C34878D82A}">
                    <a16:rowId xmlns:a16="http://schemas.microsoft.com/office/drawing/2014/main" val="3376557704"/>
                  </a:ext>
                </a:extLst>
              </a:tr>
              <a:tr h="624135">
                <a:tc>
                  <a:txBody>
                    <a:bodyPr/>
                    <a:lstStyle/>
                    <a:p>
                      <a:r>
                        <a:rPr lang="en-US" sz="1800" b="0" kern="1200" dirty="0">
                          <a:solidFill>
                            <a:schemeClr val="dk1"/>
                          </a:solidFill>
                          <a:effectLst/>
                          <a:latin typeface="+mn-lt"/>
                          <a:ea typeface="+mn-ea"/>
                          <a:cs typeface="+mn-cs"/>
                        </a:rPr>
                        <a:t> </a:t>
                      </a:r>
                      <a:r>
                        <a:rPr lang="en-US" sz="1600" b="0" kern="1200" dirty="0">
                          <a:solidFill>
                            <a:schemeClr val="accent2">
                              <a:lumMod val="75000"/>
                            </a:schemeClr>
                          </a:solidFill>
                          <a:effectLst/>
                          <a:latin typeface="Amasis MT Pro" panose="02040504050005020304" pitchFamily="18" charset="0"/>
                          <a:ea typeface="+mn-ea"/>
                          <a:cs typeface="+mn-cs"/>
                        </a:rPr>
                        <a:t>Visualization</a:t>
                      </a:r>
                      <a:endParaRPr lang="en-US" sz="1600" b="0" dirty="0">
                        <a:solidFill>
                          <a:schemeClr val="accent2">
                            <a:lumMod val="75000"/>
                          </a:schemeClr>
                        </a:solidFill>
                        <a:latin typeface="Amasis MT Pro" panose="02040504050005020304" pitchFamily="18" charset="0"/>
                      </a:endParaRPr>
                    </a:p>
                  </a:txBody>
                  <a:tcPr/>
                </a:tc>
                <a:tc>
                  <a:txBody>
                    <a:bodyPr/>
                    <a:lstStyle/>
                    <a:p>
                      <a:pPr marL="0" marR="0">
                        <a:lnSpc>
                          <a:spcPct val="115000"/>
                        </a:lnSpc>
                        <a:spcAft>
                          <a:spcPts val="800"/>
                        </a:spcAft>
                        <a:buNone/>
                      </a:pPr>
                      <a:r>
                        <a:rPr lang="en-US" sz="1600" kern="100" dirty="0">
                          <a:solidFill>
                            <a:schemeClr val="accent2">
                              <a:lumMod val="75000"/>
                            </a:schemeClr>
                          </a:solidFill>
                          <a:effectLst/>
                          <a:latin typeface="Amasis MT Pro" panose="02040504050005020304" pitchFamily="18" charset="0"/>
                          <a:ea typeface="Aptos" panose="020B0004020202020204" pitchFamily="34" charset="0"/>
                          <a:cs typeface="Arial" panose="020B0604020202020204" pitchFamily="34" charset="0"/>
                        </a:rPr>
                        <a:t>Manual or basic dashboards</a:t>
                      </a:r>
                    </a:p>
                  </a:txBody>
                  <a:tcPr marL="68580" marR="68580" marT="0" marB="0"/>
                </a:tc>
                <a:tc>
                  <a:txBody>
                    <a:bodyPr/>
                    <a:lstStyle/>
                    <a:p>
                      <a:r>
                        <a:rPr lang="en-US" sz="1600" kern="1200" dirty="0">
                          <a:solidFill>
                            <a:schemeClr val="accent2">
                              <a:lumMod val="75000"/>
                            </a:schemeClr>
                          </a:solidFill>
                          <a:effectLst/>
                          <a:latin typeface="Amasis MT Pro" panose="02040504050005020304" pitchFamily="18" charset="0"/>
                          <a:ea typeface="+mn-ea"/>
                          <a:cs typeface="+mn-cs"/>
                        </a:rPr>
                        <a:t>Real-time Grafana dashboards</a:t>
                      </a:r>
                      <a:endParaRPr lang="en-US" sz="1600" dirty="0">
                        <a:solidFill>
                          <a:schemeClr val="accent2">
                            <a:lumMod val="75000"/>
                          </a:schemeClr>
                        </a:solidFill>
                        <a:latin typeface="Amasis MT Pro" panose="02040504050005020304" pitchFamily="18" charset="0"/>
                      </a:endParaRPr>
                    </a:p>
                  </a:txBody>
                  <a:tcPr/>
                </a:tc>
                <a:extLst>
                  <a:ext uri="{0D108BD9-81ED-4DB2-BD59-A6C34878D82A}">
                    <a16:rowId xmlns:a16="http://schemas.microsoft.com/office/drawing/2014/main" val="240649537"/>
                  </a:ext>
                </a:extLst>
              </a:tr>
              <a:tr h="624135">
                <a:tc>
                  <a:txBody>
                    <a:bodyPr/>
                    <a:lstStyle/>
                    <a:p>
                      <a:r>
                        <a:rPr lang="en-US" sz="1800" kern="1200" dirty="0">
                          <a:solidFill>
                            <a:schemeClr val="dk1"/>
                          </a:solidFill>
                          <a:effectLst/>
                          <a:latin typeface="+mn-lt"/>
                          <a:ea typeface="+mn-ea"/>
                          <a:cs typeface="+mn-cs"/>
                        </a:rPr>
                        <a:t> </a:t>
                      </a:r>
                      <a:r>
                        <a:rPr lang="en-US" sz="1800" kern="1200" dirty="0">
                          <a:solidFill>
                            <a:schemeClr val="accent2">
                              <a:lumMod val="75000"/>
                            </a:schemeClr>
                          </a:solidFill>
                          <a:effectLst/>
                          <a:latin typeface="Amasis MT Pro" panose="02040504050005020304" pitchFamily="18" charset="0"/>
                          <a:ea typeface="+mn-ea"/>
                          <a:cs typeface="+mn-cs"/>
                        </a:rPr>
                        <a:t>Intelligence</a:t>
                      </a:r>
                      <a:endParaRPr lang="en-US" dirty="0">
                        <a:solidFill>
                          <a:schemeClr val="accent2">
                            <a:lumMod val="75000"/>
                          </a:schemeClr>
                        </a:solidFill>
                        <a:latin typeface="Amasis MT Pro" panose="02040504050005020304" pitchFamily="18" charset="0"/>
                      </a:endParaRPr>
                    </a:p>
                  </a:txBody>
                  <a:tcPr/>
                </a:tc>
                <a:tc>
                  <a:txBody>
                    <a:bodyPr/>
                    <a:lstStyle/>
                    <a:p>
                      <a:pPr marL="0" marR="0">
                        <a:lnSpc>
                          <a:spcPct val="115000"/>
                        </a:lnSpc>
                        <a:spcAft>
                          <a:spcPts val="800"/>
                        </a:spcAft>
                        <a:buNone/>
                      </a:pPr>
                      <a:r>
                        <a:rPr lang="en-US" sz="1600" kern="100" dirty="0">
                          <a:solidFill>
                            <a:schemeClr val="accent2">
                              <a:lumMod val="75000"/>
                            </a:schemeClr>
                          </a:solidFill>
                          <a:effectLst/>
                          <a:latin typeface="Amasis MT Pro" panose="02040504050005020304" pitchFamily="18" charset="0"/>
                          <a:ea typeface="Aptos" panose="020B0004020202020204" pitchFamily="34" charset="0"/>
                          <a:cs typeface="Arial" panose="020B0604020202020204" pitchFamily="34" charset="0"/>
                        </a:rPr>
                        <a:t>Raw collection with minimal analysis</a:t>
                      </a:r>
                    </a:p>
                  </a:txBody>
                  <a:tcPr marL="68580" marR="68580" marT="0" marB="0"/>
                </a:tc>
                <a:tc>
                  <a:txBody>
                    <a:bodyPr/>
                    <a:lstStyle/>
                    <a:p>
                      <a:pPr marL="0" marR="0">
                        <a:lnSpc>
                          <a:spcPct val="115000"/>
                        </a:lnSpc>
                        <a:spcAft>
                          <a:spcPts val="800"/>
                        </a:spcAft>
                        <a:buNone/>
                      </a:pPr>
                      <a:r>
                        <a:rPr lang="en-US" sz="1600" kern="100" dirty="0">
                          <a:solidFill>
                            <a:schemeClr val="accent2">
                              <a:lumMod val="75000"/>
                            </a:schemeClr>
                          </a:solidFill>
                          <a:effectLst/>
                          <a:latin typeface="Aptos" panose="020B0004020202020204" pitchFamily="34" charset="0"/>
                          <a:ea typeface="Aptos" panose="020B0004020202020204" pitchFamily="34" charset="0"/>
                          <a:cs typeface="Arial" panose="020B0604020202020204" pitchFamily="34" charset="0"/>
                        </a:rPr>
                        <a:t>Enriched with anomaly detection</a:t>
                      </a:r>
                    </a:p>
                  </a:txBody>
                  <a:tcPr marL="68580" marR="68580" marT="0" marB="0"/>
                </a:tc>
                <a:extLst>
                  <a:ext uri="{0D108BD9-81ED-4DB2-BD59-A6C34878D82A}">
                    <a16:rowId xmlns:a16="http://schemas.microsoft.com/office/drawing/2014/main" val="3532876737"/>
                  </a:ext>
                </a:extLst>
              </a:tr>
            </a:tbl>
          </a:graphicData>
        </a:graphic>
      </p:graphicFrame>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77081"/>
          </a:xfrm>
        </p:spPr>
        <p:txBody>
          <a:bodyPr/>
          <a:lstStyle/>
          <a:p>
            <a:r>
              <a:rPr lang="en-US" sz="3500" dirty="0">
                <a:solidFill>
                  <a:schemeClr val="accent2">
                    <a:lumMod val="60000"/>
                    <a:lumOff val="40000"/>
                  </a:schemeClr>
                </a:solidFill>
                <a:latin typeface="Amasis MT Pro" panose="02040504050005020304" pitchFamily="18" charset="0"/>
              </a:rPr>
              <a:t>Sequence Diagram</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7</a:t>
            </a:fld>
            <a:endParaRPr lang="en-US" dirty="0"/>
          </a:p>
        </p:txBody>
      </p:sp>
      <p:pic>
        <p:nvPicPr>
          <p:cNvPr id="3" name="Picture 2" descr="Picture 202319179, Picture">
            <a:extLst>
              <a:ext uri="{FF2B5EF4-FFF2-40B4-BE49-F238E27FC236}">
                <a16:creationId xmlns:a16="http://schemas.microsoft.com/office/drawing/2014/main" id="{99C86987-CE9C-3F82-C0CA-C9D457C33B8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76665" y="1364674"/>
            <a:ext cx="7002019" cy="4736789"/>
          </a:xfrm>
          <a:prstGeom prst="rect">
            <a:avLst/>
          </a:prstGeom>
          <a:noFill/>
          <a:ln>
            <a:noFill/>
          </a:ln>
        </p:spPr>
      </p:pic>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9791904-0428-5AFF-887D-72FD9E6160EA}"/>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pic>
        <p:nvPicPr>
          <p:cNvPr id="9" name="Picture 8" descr="Picture 245368421, Picture">
            <a:extLst>
              <a:ext uri="{FF2B5EF4-FFF2-40B4-BE49-F238E27FC236}">
                <a16:creationId xmlns:a16="http://schemas.microsoft.com/office/drawing/2014/main" id="{4D1F6B30-9908-6DDB-1378-3945A18CC1C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7502" y="1369653"/>
            <a:ext cx="8173616" cy="4654225"/>
          </a:xfrm>
          <a:prstGeom prst="rect">
            <a:avLst/>
          </a:prstGeom>
          <a:noFill/>
          <a:ln>
            <a:noFill/>
          </a:ln>
        </p:spPr>
      </p:pic>
    </p:spTree>
    <p:extLst>
      <p:ext uri="{BB962C8B-B14F-4D97-AF65-F5344CB8AC3E}">
        <p14:creationId xmlns:p14="http://schemas.microsoft.com/office/powerpoint/2010/main" val="1416903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A0BEE-C21E-790A-336D-1DFAD7C8535A}"/>
              </a:ext>
            </a:extLst>
          </p:cNvPr>
          <p:cNvSpPr>
            <a:spLocks noGrp="1"/>
          </p:cNvSpPr>
          <p:nvPr>
            <p:ph type="title"/>
          </p:nvPr>
        </p:nvSpPr>
        <p:spPr/>
        <p:txBody>
          <a:bodyPr/>
          <a:lstStyle/>
          <a:p>
            <a:r>
              <a:rPr lang="en-US" dirty="0">
                <a:solidFill>
                  <a:schemeClr val="accent2">
                    <a:lumMod val="60000"/>
                    <a:lumOff val="40000"/>
                  </a:schemeClr>
                </a:solidFill>
                <a:latin typeface="Amasis MT Pro" panose="02040504050005020304" pitchFamily="18" charset="0"/>
              </a:rPr>
              <a:t>Architectural Design</a:t>
            </a:r>
          </a:p>
        </p:txBody>
      </p:sp>
      <p:sp>
        <p:nvSpPr>
          <p:cNvPr id="3" name="Slide Number Placeholder 2">
            <a:extLst>
              <a:ext uri="{FF2B5EF4-FFF2-40B4-BE49-F238E27FC236}">
                <a16:creationId xmlns:a16="http://schemas.microsoft.com/office/drawing/2014/main" id="{823202BF-A88D-2FEE-B94E-C1C87EA71ACC}"/>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pic>
        <p:nvPicPr>
          <p:cNvPr id="4" name="Picture 3">
            <a:extLst>
              <a:ext uri="{FF2B5EF4-FFF2-40B4-BE49-F238E27FC236}">
                <a16:creationId xmlns:a16="http://schemas.microsoft.com/office/drawing/2014/main" id="{10EBADFE-B7A9-3CDD-05E7-74EFCA5F18BC}"/>
              </a:ext>
            </a:extLst>
          </p:cNvPr>
          <p:cNvPicPr/>
          <p:nvPr/>
        </p:nvPicPr>
        <p:blipFill>
          <a:blip r:embed="rId2"/>
          <a:stretch>
            <a:fillRect/>
          </a:stretch>
        </p:blipFill>
        <p:spPr>
          <a:xfrm>
            <a:off x="1851334" y="1441525"/>
            <a:ext cx="8045469" cy="5238675"/>
          </a:xfrm>
          <a:prstGeom prst="rect">
            <a:avLst/>
          </a:prstGeom>
        </p:spPr>
      </p:pic>
      <p:sp>
        <p:nvSpPr>
          <p:cNvPr id="5" name="AutoShape 2">
            <a:extLst>
              <a:ext uri="{FF2B5EF4-FFF2-40B4-BE49-F238E27FC236}">
                <a16:creationId xmlns:a16="http://schemas.microsoft.com/office/drawing/2014/main" id="{A38781EA-F8DF-B4B8-4861-FD43207BE18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38664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896C3-EEF6-6A0E-83C6-A516A05FADD1}"/>
              </a:ext>
            </a:extLst>
          </p:cNvPr>
          <p:cNvSpPr>
            <a:spLocks noGrp="1"/>
          </p:cNvSpPr>
          <p:nvPr>
            <p:ph type="title"/>
          </p:nvPr>
        </p:nvSpPr>
        <p:spPr/>
        <p:txBody>
          <a:bodyPr/>
          <a:lstStyle/>
          <a:p>
            <a:r>
              <a:rPr lang="en-US" dirty="0">
                <a:solidFill>
                  <a:schemeClr val="accent2">
                    <a:lumMod val="60000"/>
                    <a:lumOff val="40000"/>
                  </a:schemeClr>
                </a:solidFill>
                <a:latin typeface="Amasis MT Pro" panose="02040504050005020304" pitchFamily="18" charset="0"/>
              </a:rPr>
              <a:t>Dashboard Features</a:t>
            </a:r>
          </a:p>
        </p:txBody>
      </p:sp>
      <p:sp>
        <p:nvSpPr>
          <p:cNvPr id="3" name="Slide Number Placeholder 2">
            <a:extLst>
              <a:ext uri="{FF2B5EF4-FFF2-40B4-BE49-F238E27FC236}">
                <a16:creationId xmlns:a16="http://schemas.microsoft.com/office/drawing/2014/main" id="{2962BE0C-2558-C7BD-3D64-F95ECE0C512F}"/>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sp>
        <p:nvSpPr>
          <p:cNvPr id="5" name="AutoShape 2">
            <a:extLst>
              <a:ext uri="{FF2B5EF4-FFF2-40B4-BE49-F238E27FC236}">
                <a16:creationId xmlns:a16="http://schemas.microsoft.com/office/drawing/2014/main" id="{72B10C65-7AAA-3E8F-C634-F5B381F8C3C3}"/>
              </a:ext>
            </a:extLst>
          </p:cNvPr>
          <p:cNvSpPr>
            <a:spLocks noChangeAspect="1" noChangeArrowheads="1"/>
          </p:cNvSpPr>
          <p:nvPr/>
        </p:nvSpPr>
        <p:spPr bwMode="auto">
          <a:xfrm>
            <a:off x="1708484" y="-958516"/>
            <a:ext cx="4539916" cy="453991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a:extLst>
              <a:ext uri="{FF2B5EF4-FFF2-40B4-BE49-F238E27FC236}">
                <a16:creationId xmlns:a16="http://schemas.microsoft.com/office/drawing/2014/main" id="{67BAD6B2-DA06-5285-FA96-0E4D3BED1A27}"/>
              </a:ext>
            </a:extLst>
          </p:cNvPr>
          <p:cNvSpPr>
            <a:spLocks noChangeAspect="1" noChangeArrowheads="1"/>
          </p:cNvSpPr>
          <p:nvPr/>
        </p:nvSpPr>
        <p:spPr bwMode="auto">
          <a:xfrm>
            <a:off x="2674374" y="7374"/>
            <a:ext cx="3574026" cy="3574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descr="A graph with green bars&#10;&#10;AI-generated content may be incorrect.">
            <a:extLst>
              <a:ext uri="{FF2B5EF4-FFF2-40B4-BE49-F238E27FC236}">
                <a16:creationId xmlns:a16="http://schemas.microsoft.com/office/drawing/2014/main" id="{D66B729D-E243-62CE-49DC-83EA03A07B23}"/>
              </a:ext>
            </a:extLst>
          </p:cNvPr>
          <p:cNvPicPr>
            <a:picLocks noChangeAspect="1"/>
          </p:cNvPicPr>
          <p:nvPr/>
        </p:nvPicPr>
        <p:blipFill>
          <a:blip r:embed="rId2"/>
          <a:stretch>
            <a:fillRect/>
          </a:stretch>
        </p:blipFill>
        <p:spPr>
          <a:xfrm>
            <a:off x="385698" y="1891428"/>
            <a:ext cx="3563983" cy="2573336"/>
          </a:xfrm>
          <a:prstGeom prst="rect">
            <a:avLst/>
          </a:prstGeom>
        </p:spPr>
      </p:pic>
      <p:sp>
        <p:nvSpPr>
          <p:cNvPr id="9" name="AutoShape 6">
            <a:extLst>
              <a:ext uri="{FF2B5EF4-FFF2-40B4-BE49-F238E27FC236}">
                <a16:creationId xmlns:a16="http://schemas.microsoft.com/office/drawing/2014/main" id="{88D4D8CD-9275-11F7-C092-47313AE1F40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descr="A screenshot of a number&#10;&#10;AI-generated content may be incorrect.">
            <a:extLst>
              <a:ext uri="{FF2B5EF4-FFF2-40B4-BE49-F238E27FC236}">
                <a16:creationId xmlns:a16="http://schemas.microsoft.com/office/drawing/2014/main" id="{C97EFB9B-E9C4-13B1-53A8-F70200D786F0}"/>
              </a:ext>
            </a:extLst>
          </p:cNvPr>
          <p:cNvPicPr>
            <a:picLocks noChangeAspect="1"/>
          </p:cNvPicPr>
          <p:nvPr/>
        </p:nvPicPr>
        <p:blipFill>
          <a:blip r:embed="rId3"/>
          <a:stretch>
            <a:fillRect/>
          </a:stretch>
        </p:blipFill>
        <p:spPr>
          <a:xfrm>
            <a:off x="4461387" y="1821683"/>
            <a:ext cx="2627142" cy="2453160"/>
          </a:xfrm>
          <a:prstGeom prst="rect">
            <a:avLst/>
          </a:prstGeom>
        </p:spPr>
      </p:pic>
      <p:pic>
        <p:nvPicPr>
          <p:cNvPr id="12" name="Picture 11" descr="A pie chart with different colored circles&#10;&#10;AI-generated content may be incorrect.">
            <a:extLst>
              <a:ext uri="{FF2B5EF4-FFF2-40B4-BE49-F238E27FC236}">
                <a16:creationId xmlns:a16="http://schemas.microsoft.com/office/drawing/2014/main" id="{39D363E6-E63B-C884-A4BB-6D6BCCF816B5}"/>
              </a:ext>
            </a:extLst>
          </p:cNvPr>
          <p:cNvPicPr>
            <a:picLocks noChangeAspect="1"/>
          </p:cNvPicPr>
          <p:nvPr/>
        </p:nvPicPr>
        <p:blipFill>
          <a:blip r:embed="rId4"/>
          <a:stretch>
            <a:fillRect/>
          </a:stretch>
        </p:blipFill>
        <p:spPr>
          <a:xfrm>
            <a:off x="7512384" y="1803284"/>
            <a:ext cx="4455334" cy="2453160"/>
          </a:xfrm>
          <a:prstGeom prst="rect">
            <a:avLst/>
          </a:prstGeom>
        </p:spPr>
      </p:pic>
      <p:sp>
        <p:nvSpPr>
          <p:cNvPr id="13" name="TextBox 12">
            <a:extLst>
              <a:ext uri="{FF2B5EF4-FFF2-40B4-BE49-F238E27FC236}">
                <a16:creationId xmlns:a16="http://schemas.microsoft.com/office/drawing/2014/main" id="{E454D90C-713A-520F-C193-5DFFD7C7BA65}"/>
              </a:ext>
            </a:extLst>
          </p:cNvPr>
          <p:cNvSpPr txBox="1"/>
          <p:nvPr/>
        </p:nvSpPr>
        <p:spPr>
          <a:xfrm>
            <a:off x="444500" y="1445341"/>
            <a:ext cx="2338029" cy="369332"/>
          </a:xfrm>
          <a:prstGeom prst="rect">
            <a:avLst/>
          </a:prstGeom>
          <a:noFill/>
        </p:spPr>
        <p:txBody>
          <a:bodyPr wrap="square" rtlCol="0">
            <a:spAutoFit/>
          </a:bodyPr>
          <a:lstStyle/>
          <a:p>
            <a:r>
              <a:rPr lang="en-US" dirty="0">
                <a:solidFill>
                  <a:schemeClr val="accent2">
                    <a:lumMod val="60000"/>
                    <a:lumOff val="40000"/>
                  </a:schemeClr>
                </a:solidFill>
              </a:rPr>
              <a:t>IDS Alerts Over Time</a:t>
            </a:r>
          </a:p>
        </p:txBody>
      </p:sp>
      <p:sp>
        <p:nvSpPr>
          <p:cNvPr id="16" name="TextBox 15">
            <a:extLst>
              <a:ext uri="{FF2B5EF4-FFF2-40B4-BE49-F238E27FC236}">
                <a16:creationId xmlns:a16="http://schemas.microsoft.com/office/drawing/2014/main" id="{92DC522E-3AAC-9981-3538-24D673CBCB6D}"/>
              </a:ext>
            </a:extLst>
          </p:cNvPr>
          <p:cNvSpPr txBox="1"/>
          <p:nvPr/>
        </p:nvSpPr>
        <p:spPr>
          <a:xfrm>
            <a:off x="228191" y="4555873"/>
            <a:ext cx="3763706" cy="369332"/>
          </a:xfrm>
          <a:prstGeom prst="rect">
            <a:avLst/>
          </a:prstGeom>
          <a:noFill/>
        </p:spPr>
        <p:txBody>
          <a:bodyPr wrap="square" rtlCol="0">
            <a:spAutoFit/>
          </a:bodyPr>
          <a:lstStyle/>
          <a:p>
            <a:r>
              <a:rPr lang="en-US" dirty="0">
                <a:solidFill>
                  <a:schemeClr val="accent2">
                    <a:lumMod val="75000"/>
                  </a:schemeClr>
                </a:solidFill>
              </a:rPr>
              <a:t>-</a:t>
            </a:r>
            <a:r>
              <a:rPr lang="en-US" sz="1400" dirty="0">
                <a:solidFill>
                  <a:schemeClr val="accent2">
                    <a:lumMod val="75000"/>
                  </a:schemeClr>
                </a:solidFill>
              </a:rPr>
              <a:t>Bar chart</a:t>
            </a:r>
          </a:p>
        </p:txBody>
      </p:sp>
      <p:sp>
        <p:nvSpPr>
          <p:cNvPr id="17" name="TextBox 16">
            <a:extLst>
              <a:ext uri="{FF2B5EF4-FFF2-40B4-BE49-F238E27FC236}">
                <a16:creationId xmlns:a16="http://schemas.microsoft.com/office/drawing/2014/main" id="{8EA22990-22F1-EB45-513E-92D99ACC6D58}"/>
              </a:ext>
            </a:extLst>
          </p:cNvPr>
          <p:cNvSpPr txBox="1"/>
          <p:nvPr/>
        </p:nvSpPr>
        <p:spPr>
          <a:xfrm>
            <a:off x="228191" y="4831648"/>
            <a:ext cx="3721490" cy="584775"/>
          </a:xfrm>
          <a:prstGeom prst="rect">
            <a:avLst/>
          </a:prstGeom>
          <a:noFill/>
        </p:spPr>
        <p:txBody>
          <a:bodyPr wrap="square" rtlCol="0">
            <a:spAutoFit/>
          </a:bodyPr>
          <a:lstStyle/>
          <a:p>
            <a:r>
              <a:rPr lang="en-US" dirty="0">
                <a:solidFill>
                  <a:schemeClr val="accent2">
                    <a:lumMod val="75000"/>
                  </a:schemeClr>
                </a:solidFill>
              </a:rPr>
              <a:t>-</a:t>
            </a:r>
            <a:r>
              <a:rPr lang="en-US" sz="1400" dirty="0">
                <a:solidFill>
                  <a:schemeClr val="accent2">
                    <a:lumMod val="75000"/>
                  </a:schemeClr>
                </a:solidFill>
              </a:rPr>
              <a:t>Shows IDS alerts over a specific time and their count</a:t>
            </a:r>
          </a:p>
        </p:txBody>
      </p:sp>
      <p:sp>
        <p:nvSpPr>
          <p:cNvPr id="18" name="TextBox 17">
            <a:extLst>
              <a:ext uri="{FF2B5EF4-FFF2-40B4-BE49-F238E27FC236}">
                <a16:creationId xmlns:a16="http://schemas.microsoft.com/office/drawing/2014/main" id="{71E7F10D-ADBD-9589-CC96-6D7919B72EE6}"/>
              </a:ext>
            </a:extLst>
          </p:cNvPr>
          <p:cNvSpPr txBox="1"/>
          <p:nvPr/>
        </p:nvSpPr>
        <p:spPr>
          <a:xfrm>
            <a:off x="4498258" y="4882428"/>
            <a:ext cx="2959509" cy="307777"/>
          </a:xfrm>
          <a:prstGeom prst="rect">
            <a:avLst/>
          </a:prstGeom>
          <a:noFill/>
        </p:spPr>
        <p:txBody>
          <a:bodyPr wrap="square" rtlCol="0">
            <a:spAutoFit/>
          </a:bodyPr>
          <a:lstStyle/>
          <a:p>
            <a:r>
              <a:rPr lang="en-US" sz="1400" dirty="0">
                <a:solidFill>
                  <a:schemeClr val="accent2">
                    <a:lumMod val="75000"/>
                  </a:schemeClr>
                </a:solidFill>
              </a:rPr>
              <a:t>-Total IDS alerts filtered by time</a:t>
            </a:r>
          </a:p>
        </p:txBody>
      </p:sp>
      <p:sp>
        <p:nvSpPr>
          <p:cNvPr id="19" name="TextBox 18">
            <a:extLst>
              <a:ext uri="{FF2B5EF4-FFF2-40B4-BE49-F238E27FC236}">
                <a16:creationId xmlns:a16="http://schemas.microsoft.com/office/drawing/2014/main" id="{F84FB38C-81FA-CFC4-46C9-2199D144F448}"/>
              </a:ext>
            </a:extLst>
          </p:cNvPr>
          <p:cNvSpPr txBox="1"/>
          <p:nvPr/>
        </p:nvSpPr>
        <p:spPr>
          <a:xfrm>
            <a:off x="4498258" y="4586650"/>
            <a:ext cx="2890683" cy="307777"/>
          </a:xfrm>
          <a:prstGeom prst="rect">
            <a:avLst/>
          </a:prstGeom>
          <a:noFill/>
        </p:spPr>
        <p:txBody>
          <a:bodyPr wrap="square" rtlCol="0">
            <a:spAutoFit/>
          </a:bodyPr>
          <a:lstStyle/>
          <a:p>
            <a:r>
              <a:rPr lang="en-US" sz="1400" dirty="0">
                <a:solidFill>
                  <a:schemeClr val="accent2">
                    <a:lumMod val="75000"/>
                  </a:schemeClr>
                </a:solidFill>
              </a:rPr>
              <a:t>-Statistics</a:t>
            </a:r>
          </a:p>
        </p:txBody>
      </p:sp>
      <p:sp>
        <p:nvSpPr>
          <p:cNvPr id="20" name="TextBox 19">
            <a:extLst>
              <a:ext uri="{FF2B5EF4-FFF2-40B4-BE49-F238E27FC236}">
                <a16:creationId xmlns:a16="http://schemas.microsoft.com/office/drawing/2014/main" id="{7D5491FE-FF67-077C-D661-6EAE8CBE6D97}"/>
              </a:ext>
            </a:extLst>
          </p:cNvPr>
          <p:cNvSpPr txBox="1"/>
          <p:nvPr/>
        </p:nvSpPr>
        <p:spPr>
          <a:xfrm>
            <a:off x="7457767" y="4586650"/>
            <a:ext cx="2635046" cy="307777"/>
          </a:xfrm>
          <a:prstGeom prst="rect">
            <a:avLst/>
          </a:prstGeom>
          <a:noFill/>
        </p:spPr>
        <p:txBody>
          <a:bodyPr wrap="square" rtlCol="0">
            <a:spAutoFit/>
          </a:bodyPr>
          <a:lstStyle/>
          <a:p>
            <a:r>
              <a:rPr lang="en-US" sz="1400" dirty="0">
                <a:solidFill>
                  <a:schemeClr val="accent2">
                    <a:lumMod val="75000"/>
                  </a:schemeClr>
                </a:solidFill>
              </a:rPr>
              <a:t>-Pie chart</a:t>
            </a:r>
          </a:p>
        </p:txBody>
      </p:sp>
      <p:sp>
        <p:nvSpPr>
          <p:cNvPr id="21" name="TextBox 20">
            <a:extLst>
              <a:ext uri="{FF2B5EF4-FFF2-40B4-BE49-F238E27FC236}">
                <a16:creationId xmlns:a16="http://schemas.microsoft.com/office/drawing/2014/main" id="{F8695B8E-3194-E673-AFAA-50837506450A}"/>
              </a:ext>
            </a:extLst>
          </p:cNvPr>
          <p:cNvSpPr txBox="1"/>
          <p:nvPr/>
        </p:nvSpPr>
        <p:spPr>
          <a:xfrm>
            <a:off x="7457767" y="4831648"/>
            <a:ext cx="3952029" cy="307777"/>
          </a:xfrm>
          <a:prstGeom prst="rect">
            <a:avLst/>
          </a:prstGeom>
          <a:noFill/>
        </p:spPr>
        <p:txBody>
          <a:bodyPr wrap="square" rtlCol="0">
            <a:spAutoFit/>
          </a:bodyPr>
          <a:lstStyle/>
          <a:p>
            <a:r>
              <a:rPr lang="en-US" sz="1400" dirty="0">
                <a:solidFill>
                  <a:schemeClr val="accent2">
                    <a:lumMod val="75000"/>
                  </a:schemeClr>
                </a:solidFill>
              </a:rPr>
              <a:t>-Shows the log type rate and its source</a:t>
            </a:r>
          </a:p>
        </p:txBody>
      </p:sp>
    </p:spTree>
    <p:extLst>
      <p:ext uri="{BB962C8B-B14F-4D97-AF65-F5344CB8AC3E}">
        <p14:creationId xmlns:p14="http://schemas.microsoft.com/office/powerpoint/2010/main" val="67191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7860D-5FDD-B08E-B631-472EFD371290}"/>
              </a:ext>
            </a:extLst>
          </p:cNvPr>
          <p:cNvSpPr>
            <a:spLocks noGrp="1"/>
          </p:cNvSpPr>
          <p:nvPr>
            <p:ph type="title"/>
          </p:nvPr>
        </p:nvSpPr>
        <p:spPr/>
        <p:txBody>
          <a:bodyPr/>
          <a:lstStyle/>
          <a:p>
            <a:r>
              <a:rPr lang="en-US" dirty="0">
                <a:solidFill>
                  <a:schemeClr val="accent2">
                    <a:lumMod val="60000"/>
                    <a:lumOff val="40000"/>
                  </a:schemeClr>
                </a:solidFill>
                <a:latin typeface="Amasis MT Pro" panose="02040504050005020304" pitchFamily="18" charset="0"/>
              </a:rPr>
              <a:t>Dashboard Features</a:t>
            </a:r>
          </a:p>
        </p:txBody>
      </p:sp>
      <p:sp>
        <p:nvSpPr>
          <p:cNvPr id="3" name="Slide Number Placeholder 2">
            <a:extLst>
              <a:ext uri="{FF2B5EF4-FFF2-40B4-BE49-F238E27FC236}">
                <a16:creationId xmlns:a16="http://schemas.microsoft.com/office/drawing/2014/main" id="{233D9A35-68AE-81FE-5FC9-4B481E1573FF}"/>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9" name="AutoShape 2">
            <a:extLst>
              <a:ext uri="{FF2B5EF4-FFF2-40B4-BE49-F238E27FC236}">
                <a16:creationId xmlns:a16="http://schemas.microsoft.com/office/drawing/2014/main" id="{7C0A2164-7DD2-9223-427F-BF87F6E3697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descr="A screenshot of a computer&#10;&#10;AI-generated content may be incorrect.">
            <a:extLst>
              <a:ext uri="{FF2B5EF4-FFF2-40B4-BE49-F238E27FC236}">
                <a16:creationId xmlns:a16="http://schemas.microsoft.com/office/drawing/2014/main" id="{72157490-EDC1-6D49-7C85-369B5351598D}"/>
              </a:ext>
            </a:extLst>
          </p:cNvPr>
          <p:cNvPicPr>
            <a:picLocks noChangeAspect="1"/>
          </p:cNvPicPr>
          <p:nvPr/>
        </p:nvPicPr>
        <p:blipFill>
          <a:blip r:embed="rId2"/>
          <a:stretch>
            <a:fillRect/>
          </a:stretch>
        </p:blipFill>
        <p:spPr>
          <a:xfrm>
            <a:off x="444500" y="3581400"/>
            <a:ext cx="4685876" cy="2453161"/>
          </a:xfrm>
          <a:prstGeom prst="rect">
            <a:avLst/>
          </a:prstGeom>
        </p:spPr>
      </p:pic>
      <p:pic>
        <p:nvPicPr>
          <p:cNvPr id="15" name="Picture 14" descr="A screen shot of a computer&#10;&#10;AI-generated content may be incorrect.">
            <a:extLst>
              <a:ext uri="{FF2B5EF4-FFF2-40B4-BE49-F238E27FC236}">
                <a16:creationId xmlns:a16="http://schemas.microsoft.com/office/drawing/2014/main" id="{936EEF84-9053-6F2F-CD80-D30929718180}"/>
              </a:ext>
            </a:extLst>
          </p:cNvPr>
          <p:cNvPicPr>
            <a:picLocks noChangeAspect="1"/>
          </p:cNvPicPr>
          <p:nvPr/>
        </p:nvPicPr>
        <p:blipFill>
          <a:blip r:embed="rId3"/>
          <a:stretch>
            <a:fillRect/>
          </a:stretch>
        </p:blipFill>
        <p:spPr>
          <a:xfrm>
            <a:off x="444500" y="1383256"/>
            <a:ext cx="10535265" cy="1646135"/>
          </a:xfrm>
          <a:prstGeom prst="rect">
            <a:avLst/>
          </a:prstGeom>
        </p:spPr>
      </p:pic>
      <p:sp>
        <p:nvSpPr>
          <p:cNvPr id="16" name="TextBox 15">
            <a:extLst>
              <a:ext uri="{FF2B5EF4-FFF2-40B4-BE49-F238E27FC236}">
                <a16:creationId xmlns:a16="http://schemas.microsoft.com/office/drawing/2014/main" id="{E6C575D6-8A79-96F6-8B75-B74306913D92}"/>
              </a:ext>
            </a:extLst>
          </p:cNvPr>
          <p:cNvSpPr txBox="1"/>
          <p:nvPr/>
        </p:nvSpPr>
        <p:spPr>
          <a:xfrm>
            <a:off x="444500" y="1046683"/>
            <a:ext cx="6154993" cy="307777"/>
          </a:xfrm>
          <a:prstGeom prst="rect">
            <a:avLst/>
          </a:prstGeom>
          <a:noFill/>
        </p:spPr>
        <p:txBody>
          <a:bodyPr wrap="square" rtlCol="0">
            <a:spAutoFit/>
          </a:bodyPr>
          <a:lstStyle/>
          <a:p>
            <a:r>
              <a:rPr lang="en-US" sz="1400" dirty="0">
                <a:solidFill>
                  <a:schemeClr val="accent2">
                    <a:lumMod val="75000"/>
                  </a:schemeClr>
                </a:solidFill>
              </a:rPr>
              <a:t>-Displays the IDS alerts and metadata of logs</a:t>
            </a:r>
          </a:p>
        </p:txBody>
      </p:sp>
      <p:sp>
        <p:nvSpPr>
          <p:cNvPr id="17" name="TextBox 16">
            <a:extLst>
              <a:ext uri="{FF2B5EF4-FFF2-40B4-BE49-F238E27FC236}">
                <a16:creationId xmlns:a16="http://schemas.microsoft.com/office/drawing/2014/main" id="{FF863086-B0E8-D20B-82E8-98D093A4F258}"/>
              </a:ext>
            </a:extLst>
          </p:cNvPr>
          <p:cNvSpPr txBox="1"/>
          <p:nvPr/>
        </p:nvSpPr>
        <p:spPr>
          <a:xfrm>
            <a:off x="540774" y="3276600"/>
            <a:ext cx="6331974" cy="307777"/>
          </a:xfrm>
          <a:prstGeom prst="rect">
            <a:avLst/>
          </a:prstGeom>
          <a:noFill/>
        </p:spPr>
        <p:txBody>
          <a:bodyPr wrap="square" rtlCol="0">
            <a:spAutoFit/>
          </a:bodyPr>
          <a:lstStyle/>
          <a:p>
            <a:r>
              <a:rPr lang="en-US" sz="1400" dirty="0">
                <a:solidFill>
                  <a:schemeClr val="accent2">
                    <a:lumMod val="75000"/>
                  </a:schemeClr>
                </a:solidFill>
              </a:rPr>
              <a:t>-Displays the authentication logs and their metadata extracted from scripts</a:t>
            </a:r>
          </a:p>
        </p:txBody>
      </p:sp>
    </p:spTree>
    <p:extLst>
      <p:ext uri="{BB962C8B-B14F-4D97-AF65-F5344CB8AC3E}">
        <p14:creationId xmlns:p14="http://schemas.microsoft.com/office/powerpoint/2010/main" val="1835802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86405DC-A986-28C9-E22D-13E4BED95150}"/>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pic>
        <p:nvPicPr>
          <p:cNvPr id="9" name="Picture 8">
            <a:extLst>
              <a:ext uri="{FF2B5EF4-FFF2-40B4-BE49-F238E27FC236}">
                <a16:creationId xmlns:a16="http://schemas.microsoft.com/office/drawing/2014/main" id="{6F00F321-D135-1DBC-A9D3-24A880563B1E}"/>
              </a:ext>
            </a:extLst>
          </p:cNvPr>
          <p:cNvPicPr>
            <a:picLocks noChangeAspect="1"/>
          </p:cNvPicPr>
          <p:nvPr/>
        </p:nvPicPr>
        <p:blipFill>
          <a:blip r:embed="rId2"/>
          <a:stretch>
            <a:fillRect/>
          </a:stretch>
        </p:blipFill>
        <p:spPr>
          <a:xfrm>
            <a:off x="4029966" y="966015"/>
            <a:ext cx="3499838" cy="5238842"/>
          </a:xfrm>
          <a:prstGeom prst="rect">
            <a:avLst/>
          </a:prstGeom>
        </p:spPr>
      </p:pic>
      <p:sp>
        <p:nvSpPr>
          <p:cNvPr id="10" name="TextBox 9">
            <a:extLst>
              <a:ext uri="{FF2B5EF4-FFF2-40B4-BE49-F238E27FC236}">
                <a16:creationId xmlns:a16="http://schemas.microsoft.com/office/drawing/2014/main" id="{1E1C4BC5-29C8-B890-0A18-A72E2B0979FD}"/>
              </a:ext>
            </a:extLst>
          </p:cNvPr>
          <p:cNvSpPr txBox="1"/>
          <p:nvPr/>
        </p:nvSpPr>
        <p:spPr>
          <a:xfrm>
            <a:off x="298580" y="737118"/>
            <a:ext cx="4068147" cy="461665"/>
          </a:xfrm>
          <a:prstGeom prst="rect">
            <a:avLst/>
          </a:prstGeom>
          <a:noFill/>
        </p:spPr>
        <p:txBody>
          <a:bodyPr wrap="square" rtlCol="0">
            <a:spAutoFit/>
          </a:bodyPr>
          <a:lstStyle/>
          <a:p>
            <a:r>
              <a:rPr lang="en-US" sz="2400" b="1" dirty="0">
                <a:solidFill>
                  <a:schemeClr val="accent1">
                    <a:lumMod val="20000"/>
                    <a:lumOff val="80000"/>
                  </a:schemeClr>
                </a:solidFill>
                <a:latin typeface="Amasis MT Pro" panose="02040504050005020304" pitchFamily="18" charset="0"/>
              </a:rPr>
              <a:t>Technology Stack</a:t>
            </a:r>
          </a:p>
        </p:txBody>
      </p:sp>
    </p:spTree>
    <p:extLst>
      <p:ext uri="{BB962C8B-B14F-4D97-AF65-F5344CB8AC3E}">
        <p14:creationId xmlns:p14="http://schemas.microsoft.com/office/powerpoint/2010/main" val="1488406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168CF-A2AB-7426-D053-62E36C997D3E}"/>
              </a:ext>
            </a:extLst>
          </p:cNvPr>
          <p:cNvSpPr>
            <a:spLocks noGrp="1"/>
          </p:cNvSpPr>
          <p:nvPr>
            <p:ph type="title"/>
          </p:nvPr>
        </p:nvSpPr>
        <p:spPr>
          <a:xfrm>
            <a:off x="38100" y="631886"/>
            <a:ext cx="11214100" cy="535531"/>
          </a:xfrm>
        </p:spPr>
        <p:txBody>
          <a:bodyPr/>
          <a:lstStyle/>
          <a:p>
            <a:r>
              <a:rPr lang="en-US" dirty="0">
                <a:solidFill>
                  <a:schemeClr val="accent2">
                    <a:lumMod val="60000"/>
                    <a:lumOff val="40000"/>
                  </a:schemeClr>
                </a:solidFill>
                <a:latin typeface="Amasis MT Pro" panose="02040504050005020304" pitchFamily="18" charset="0"/>
              </a:rPr>
              <a:t>Scenario of Demonstration</a:t>
            </a:r>
          </a:p>
        </p:txBody>
      </p:sp>
      <p:sp>
        <p:nvSpPr>
          <p:cNvPr id="3" name="Slide Number Placeholder 2">
            <a:extLst>
              <a:ext uri="{FF2B5EF4-FFF2-40B4-BE49-F238E27FC236}">
                <a16:creationId xmlns:a16="http://schemas.microsoft.com/office/drawing/2014/main" id="{86F935FE-1ACD-552A-0F59-8E13939FECD4}"/>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sp>
        <p:nvSpPr>
          <p:cNvPr id="4" name="TextBox 3">
            <a:extLst>
              <a:ext uri="{FF2B5EF4-FFF2-40B4-BE49-F238E27FC236}">
                <a16:creationId xmlns:a16="http://schemas.microsoft.com/office/drawing/2014/main" id="{E0EA02A1-98B9-639D-B61D-5D2135B5A9D8}"/>
              </a:ext>
            </a:extLst>
          </p:cNvPr>
          <p:cNvSpPr txBox="1"/>
          <p:nvPr/>
        </p:nvSpPr>
        <p:spPr>
          <a:xfrm>
            <a:off x="707923" y="1799303"/>
            <a:ext cx="9602404" cy="1477328"/>
          </a:xfrm>
          <a:prstGeom prst="rect">
            <a:avLst/>
          </a:prstGeom>
          <a:noFill/>
        </p:spPr>
        <p:txBody>
          <a:bodyPr wrap="square" rtlCol="0">
            <a:spAutoFit/>
          </a:bodyPr>
          <a:lstStyle/>
          <a:p>
            <a:pPr marL="342900" indent="-342900">
              <a:buAutoNum type="arabicPeriod"/>
            </a:pPr>
            <a:r>
              <a:rPr lang="en-US" dirty="0">
                <a:solidFill>
                  <a:schemeClr val="accent1">
                    <a:lumMod val="20000"/>
                    <a:lumOff val="80000"/>
                  </a:schemeClr>
                </a:solidFill>
                <a:latin typeface="Amasis MT Pro" panose="02040504050005020304" pitchFamily="18" charset="0"/>
              </a:rPr>
              <a:t>Access authentication server.</a:t>
            </a:r>
          </a:p>
          <a:p>
            <a:pPr marL="342900" indent="-342900">
              <a:buAutoNum type="arabicPeriod"/>
            </a:pPr>
            <a:r>
              <a:rPr lang="en-US" dirty="0">
                <a:solidFill>
                  <a:schemeClr val="accent1">
                    <a:lumMod val="20000"/>
                    <a:lumOff val="80000"/>
                  </a:schemeClr>
                </a:solidFill>
                <a:latin typeface="Amasis MT Pro" panose="02040504050005020304" pitchFamily="18" charset="0"/>
              </a:rPr>
              <a:t> ⁠Show how logs are structured and sent to the central server. </a:t>
            </a:r>
          </a:p>
          <a:p>
            <a:pPr marL="342900" indent="-342900">
              <a:buAutoNum type="arabicPeriod"/>
            </a:pPr>
            <a:r>
              <a:rPr lang="en-US" dirty="0">
                <a:solidFill>
                  <a:schemeClr val="accent1">
                    <a:lumMod val="20000"/>
                    <a:lumOff val="80000"/>
                  </a:schemeClr>
                </a:solidFill>
                <a:latin typeface="Amasis MT Pro" panose="02040504050005020304" pitchFamily="18" charset="0"/>
              </a:rPr>
              <a:t>  Run log forwarding script. </a:t>
            </a:r>
          </a:p>
          <a:p>
            <a:pPr marL="342900" indent="-342900">
              <a:buAutoNum type="arabicPeriod"/>
            </a:pPr>
            <a:r>
              <a:rPr lang="en-US" dirty="0">
                <a:solidFill>
                  <a:schemeClr val="accent1">
                    <a:lumMod val="20000"/>
                    <a:lumOff val="80000"/>
                  </a:schemeClr>
                </a:solidFill>
                <a:latin typeface="Amasis MT Pro" panose="02040504050005020304" pitchFamily="18" charset="0"/>
              </a:rPr>
              <a:t> Simulate attacks.</a:t>
            </a:r>
          </a:p>
          <a:p>
            <a:pPr marL="342900" indent="-342900">
              <a:buAutoNum type="arabicPeriod"/>
            </a:pPr>
            <a:r>
              <a:rPr lang="en-US" dirty="0">
                <a:solidFill>
                  <a:schemeClr val="accent1">
                    <a:lumMod val="20000"/>
                    <a:lumOff val="80000"/>
                  </a:schemeClr>
                </a:solidFill>
                <a:latin typeface="Amasis MT Pro" panose="02040504050005020304" pitchFamily="18" charset="0"/>
              </a:rPr>
              <a:t> Monitor real-time alerts in Grafana.</a:t>
            </a:r>
          </a:p>
        </p:txBody>
      </p:sp>
    </p:spTree>
    <p:extLst>
      <p:ext uri="{BB962C8B-B14F-4D97-AF65-F5344CB8AC3E}">
        <p14:creationId xmlns:p14="http://schemas.microsoft.com/office/powerpoint/2010/main" val="1376900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38FC-2767-C04C-6708-1D8335F28A0D}"/>
              </a:ext>
            </a:extLst>
          </p:cNvPr>
          <p:cNvSpPr>
            <a:spLocks noGrp="1"/>
          </p:cNvSpPr>
          <p:nvPr>
            <p:ph type="title"/>
          </p:nvPr>
        </p:nvSpPr>
        <p:spPr/>
        <p:txBody>
          <a:bodyPr/>
          <a:lstStyle/>
          <a:p>
            <a:r>
              <a:rPr lang="en-US" dirty="0">
                <a:solidFill>
                  <a:schemeClr val="accent2">
                    <a:lumMod val="60000"/>
                    <a:lumOff val="40000"/>
                  </a:schemeClr>
                </a:solidFill>
                <a:latin typeface="Amasis MT Pro" panose="02040504050005020304" pitchFamily="18" charset="0"/>
              </a:rPr>
              <a:t>Conclusion</a:t>
            </a:r>
          </a:p>
        </p:txBody>
      </p:sp>
      <p:sp>
        <p:nvSpPr>
          <p:cNvPr id="3" name="Slide Number Placeholder 2">
            <a:extLst>
              <a:ext uri="{FF2B5EF4-FFF2-40B4-BE49-F238E27FC236}">
                <a16:creationId xmlns:a16="http://schemas.microsoft.com/office/drawing/2014/main" id="{C9935445-76ED-3E38-BF8D-349BA8341F0F}"/>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sp>
        <p:nvSpPr>
          <p:cNvPr id="5" name="TextBox 4">
            <a:extLst>
              <a:ext uri="{FF2B5EF4-FFF2-40B4-BE49-F238E27FC236}">
                <a16:creationId xmlns:a16="http://schemas.microsoft.com/office/drawing/2014/main" id="{642F12C3-8337-4524-5F1E-F7D048424C20}"/>
              </a:ext>
            </a:extLst>
          </p:cNvPr>
          <p:cNvSpPr txBox="1"/>
          <p:nvPr/>
        </p:nvSpPr>
        <p:spPr>
          <a:xfrm>
            <a:off x="615819" y="1511559"/>
            <a:ext cx="8098972" cy="5078313"/>
          </a:xfrm>
          <a:prstGeom prst="rect">
            <a:avLst/>
          </a:prstGeom>
          <a:noFill/>
        </p:spPr>
        <p:txBody>
          <a:bodyPr wrap="square" rtlCol="0">
            <a:spAutoFit/>
          </a:bodyPr>
          <a:lstStyle/>
          <a:p>
            <a:pPr>
              <a:buNone/>
            </a:pPr>
            <a:r>
              <a:rPr lang="en-US" b="1" dirty="0">
                <a:solidFill>
                  <a:schemeClr val="accent1">
                    <a:lumMod val="20000"/>
                    <a:lumOff val="80000"/>
                  </a:schemeClr>
                </a:solidFill>
                <a:latin typeface="Amasis MT Pro" panose="02040504050005020304" pitchFamily="18" charset="0"/>
              </a:rPr>
              <a:t>Our project’s main goal was  to address logging issues in high-level organizations such as banks and other critical infrastructures. It successfully achieved the objectives by :</a:t>
            </a:r>
          </a:p>
          <a:p>
            <a:pPr>
              <a:buNone/>
            </a:pPr>
            <a:endParaRPr lang="en-US" b="1" dirty="0">
              <a:solidFill>
                <a:schemeClr val="accent1">
                  <a:lumMod val="20000"/>
                  <a:lumOff val="80000"/>
                </a:schemeClr>
              </a:solidFill>
              <a:latin typeface="Amasis MT Pro" panose="02040504050005020304" pitchFamily="18" charset="0"/>
            </a:endParaRPr>
          </a:p>
          <a:p>
            <a:pPr>
              <a:buNone/>
            </a:pPr>
            <a:r>
              <a:rPr lang="en-US" dirty="0">
                <a:solidFill>
                  <a:schemeClr val="accent1">
                    <a:lumMod val="20000"/>
                    <a:lumOff val="80000"/>
                  </a:schemeClr>
                </a:solidFill>
                <a:latin typeface="Amasis MT Pro" panose="02040504050005020304" pitchFamily="18" charset="0"/>
              </a:rPr>
              <a:t>1-Building a lightweight logging system that is easy to use and manage.</a:t>
            </a:r>
          </a:p>
          <a:p>
            <a:pPr>
              <a:buNone/>
            </a:pPr>
            <a:endParaRPr lang="en-US" dirty="0">
              <a:solidFill>
                <a:schemeClr val="accent1">
                  <a:lumMod val="20000"/>
                  <a:lumOff val="80000"/>
                </a:schemeClr>
              </a:solidFill>
              <a:latin typeface="Amasis MT Pro" panose="02040504050005020304" pitchFamily="18" charset="0"/>
            </a:endParaRPr>
          </a:p>
          <a:p>
            <a:pPr>
              <a:buNone/>
            </a:pPr>
            <a:r>
              <a:rPr lang="en-US" dirty="0">
                <a:solidFill>
                  <a:schemeClr val="accent1">
                    <a:lumMod val="20000"/>
                    <a:lumOff val="80000"/>
                  </a:schemeClr>
                </a:solidFill>
                <a:latin typeface="Amasis MT Pro" panose="02040504050005020304" pitchFamily="18" charset="0"/>
              </a:rPr>
              <a:t>2-Adding real-time monitoring by integrating Suricata to directly spot threats as they happen.</a:t>
            </a:r>
          </a:p>
          <a:p>
            <a:pPr>
              <a:buNone/>
            </a:pPr>
            <a:endParaRPr lang="en-US" dirty="0">
              <a:solidFill>
                <a:schemeClr val="accent1">
                  <a:lumMod val="20000"/>
                  <a:lumOff val="80000"/>
                </a:schemeClr>
              </a:solidFill>
              <a:latin typeface="Amasis MT Pro" panose="02040504050005020304" pitchFamily="18" charset="0"/>
            </a:endParaRPr>
          </a:p>
          <a:p>
            <a:pPr>
              <a:buNone/>
            </a:pPr>
            <a:r>
              <a:rPr lang="en-US" dirty="0">
                <a:solidFill>
                  <a:schemeClr val="accent1">
                    <a:lumMod val="20000"/>
                    <a:lumOff val="80000"/>
                  </a:schemeClr>
                </a:solidFill>
                <a:latin typeface="Amasis MT Pro" panose="02040504050005020304" pitchFamily="18" charset="0"/>
              </a:rPr>
              <a:t>3-Centralizing logs from different servers in one main server.</a:t>
            </a:r>
          </a:p>
          <a:p>
            <a:pPr>
              <a:buNone/>
            </a:pPr>
            <a:endParaRPr lang="en-US" dirty="0">
              <a:solidFill>
                <a:schemeClr val="accent1">
                  <a:lumMod val="20000"/>
                  <a:lumOff val="80000"/>
                </a:schemeClr>
              </a:solidFill>
              <a:latin typeface="Amasis MT Pro" panose="02040504050005020304" pitchFamily="18" charset="0"/>
            </a:endParaRPr>
          </a:p>
          <a:p>
            <a:pPr>
              <a:buNone/>
            </a:pPr>
            <a:r>
              <a:rPr lang="en-US" dirty="0">
                <a:solidFill>
                  <a:schemeClr val="accent1">
                    <a:lumMod val="20000"/>
                    <a:lumOff val="80000"/>
                  </a:schemeClr>
                </a:solidFill>
                <a:latin typeface="Amasis MT Pro" panose="02040504050005020304" pitchFamily="18" charset="0"/>
              </a:rPr>
              <a:t>4-Storing only important metadata from logs to save space and speed.</a:t>
            </a:r>
          </a:p>
          <a:p>
            <a:pPr>
              <a:buNone/>
            </a:pPr>
            <a:endParaRPr lang="en-US" dirty="0">
              <a:solidFill>
                <a:schemeClr val="accent1">
                  <a:lumMod val="20000"/>
                  <a:lumOff val="80000"/>
                </a:schemeClr>
              </a:solidFill>
              <a:latin typeface="Amasis MT Pro" panose="02040504050005020304" pitchFamily="18" charset="0"/>
            </a:endParaRPr>
          </a:p>
          <a:p>
            <a:pPr>
              <a:buNone/>
            </a:pPr>
            <a:r>
              <a:rPr lang="en-US" dirty="0">
                <a:solidFill>
                  <a:schemeClr val="accent1">
                    <a:lumMod val="20000"/>
                    <a:lumOff val="80000"/>
                  </a:schemeClr>
                </a:solidFill>
                <a:latin typeface="Amasis MT Pro" panose="02040504050005020304" pitchFamily="18" charset="0"/>
              </a:rPr>
              <a:t>5-Create a simple user-friendly interface with clear panels to help SOC teams visualize alerts.</a:t>
            </a:r>
          </a:p>
          <a:p>
            <a:pPr>
              <a:buNone/>
            </a:pPr>
            <a:endParaRPr lang="en-US" b="1" dirty="0">
              <a:solidFill>
                <a:schemeClr val="accent1">
                  <a:lumMod val="20000"/>
                  <a:lumOff val="80000"/>
                </a:schemeClr>
              </a:solidFill>
              <a:latin typeface="Amasis MT Pro" panose="02040504050005020304" pitchFamily="18" charset="0"/>
            </a:endParaRPr>
          </a:p>
          <a:p>
            <a:pPr>
              <a:buNone/>
            </a:pPr>
            <a:endParaRPr lang="en-US" dirty="0">
              <a:solidFill>
                <a:schemeClr val="accent1">
                  <a:lumMod val="20000"/>
                  <a:lumOff val="80000"/>
                </a:schemeClr>
              </a:solidFill>
              <a:latin typeface="Amasis MT Pro" panose="02040504050005020304" pitchFamily="18" charset="0"/>
            </a:endParaRPr>
          </a:p>
          <a:p>
            <a:pPr>
              <a:buNone/>
            </a:pPr>
            <a:endParaRPr lang="en-US" dirty="0">
              <a:solidFill>
                <a:schemeClr val="accent1">
                  <a:lumMod val="20000"/>
                  <a:lumOff val="80000"/>
                </a:schemeClr>
              </a:solidFill>
              <a:latin typeface="Amasis MT Pro" panose="02040504050005020304" pitchFamily="18" charset="0"/>
            </a:endParaRPr>
          </a:p>
        </p:txBody>
      </p:sp>
    </p:spTree>
    <p:extLst>
      <p:ext uri="{BB962C8B-B14F-4D97-AF65-F5344CB8AC3E}">
        <p14:creationId xmlns:p14="http://schemas.microsoft.com/office/powerpoint/2010/main" val="2661489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solidFill>
                  <a:schemeClr val="accent2">
                    <a:lumMod val="40000"/>
                    <a:lumOff val="60000"/>
                  </a:schemeClr>
                </a:solidFill>
                <a:latin typeface="Amasis MT Pro" panose="02040504050005020304" pitchFamily="18" charset="0"/>
              </a:rPr>
              <a:t>Thank You! </a:t>
            </a:r>
            <a:endParaRPr lang="en-GB" dirty="0">
              <a:solidFill>
                <a:schemeClr val="accent2">
                  <a:lumMod val="40000"/>
                  <a:lumOff val="60000"/>
                </a:schemeClr>
              </a:solidFill>
              <a:latin typeface="Amasis MT Pro" panose="02040504050005020304" pitchFamily="18" charset="0"/>
            </a:endParaRPr>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3089</TotalTime>
  <Words>545</Words>
  <Application>Microsoft Office PowerPoint</Application>
  <PresentationFormat>Widescreen</PresentationFormat>
  <Paragraphs>96</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Amasis MT Pro</vt:lpstr>
      <vt:lpstr>Aptos</vt:lpstr>
      <vt:lpstr>Arial</vt:lpstr>
      <vt:lpstr>Calibri</vt:lpstr>
      <vt:lpstr>Trade Gothic LT Pro</vt:lpstr>
      <vt:lpstr>Trebuchet MS</vt:lpstr>
      <vt:lpstr>Office Theme</vt:lpstr>
      <vt:lpstr>PowerPoint Presentation</vt:lpstr>
      <vt:lpstr>Agenda</vt:lpstr>
      <vt:lpstr>Introduction</vt:lpstr>
      <vt:lpstr>PowerPoint Presentation</vt:lpstr>
      <vt:lpstr>Problem Statement</vt:lpstr>
      <vt:lpstr>Comparison</vt:lpstr>
      <vt:lpstr>Sequence Diagram</vt:lpstr>
      <vt:lpstr>PowerPoint Presentation</vt:lpstr>
      <vt:lpstr>Architectural Design</vt:lpstr>
      <vt:lpstr>Dashboard Features</vt:lpstr>
      <vt:lpstr>Dashboard Features</vt:lpstr>
      <vt:lpstr>PowerPoint Presentation</vt:lpstr>
      <vt:lpstr>Scenario of Demonstration</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diala moh</dc:creator>
  <cp:lastModifiedBy>diala moh</cp:lastModifiedBy>
  <cp:revision>9</cp:revision>
  <dcterms:created xsi:type="dcterms:W3CDTF">2025-05-20T16:32:19Z</dcterms:created>
  <dcterms:modified xsi:type="dcterms:W3CDTF">2025-05-26T18:50:37Z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